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33a320857284041" /><Relationship Type="http://schemas.openxmlformats.org/officeDocument/2006/relationships/extended-properties" Target="/docProps/app.xml" Id="R5e2bc53f11834cbd" /><Relationship Type="http://schemas.openxmlformats.org/officeDocument/2006/relationships/officeDocument" Target="/ppt/presentation.xml" Id="Ra1a3cbe9b3da4670" /></Relationships>
</file>

<file path=ppt/presentation.xml><?xml version="1.0" encoding="utf-8"?>
<p:presentation xmlns:p="http://schemas.openxmlformats.org/presentationml/2006/main">
  <p:sldMasterIdLst>
    <p:sldMasterId xmlns:r="http://schemas.openxmlformats.org/officeDocument/2006/relationships" id="2147483648" r:id="Rfa75221a3dff4a06"/>
  </p:sldMasterIdLst>
  <p:notesMasterIdLst>
    <p:notesMasterId xmlns:r="http://schemas.openxmlformats.org/officeDocument/2006/relationships" r:id="Raaf24a42cee649a0"/>
  </p:notesMasterIdLst>
  <p:sldIdLst>
    <p:sldId xmlns:r="http://schemas.openxmlformats.org/officeDocument/2006/relationships" id="256" r:id="Ra81eb4e8b2684335"/>
    <p:sldId xmlns:r="http://schemas.openxmlformats.org/officeDocument/2006/relationships" id="257" r:id="Rcb2a1edbf78f46ae"/>
    <p:sldId xmlns:r="http://schemas.openxmlformats.org/officeDocument/2006/relationships" id="258" r:id="Rbd28a6c0c4614eff"/>
    <p:sldId xmlns:r="http://schemas.openxmlformats.org/officeDocument/2006/relationships" id="259" r:id="Rd3f8e1373f9c4711"/>
    <p:sldId xmlns:r="http://schemas.openxmlformats.org/officeDocument/2006/relationships" id="260" r:id="R6046a28226ee4085"/>
    <p:sldId xmlns:r="http://schemas.openxmlformats.org/officeDocument/2006/relationships" id="261" r:id="Rc33cb038192641ab"/>
    <p:sldId xmlns:r="http://schemas.openxmlformats.org/officeDocument/2006/relationships" id="262" r:id="Ra0d22b14c7974556"/>
    <p:sldId xmlns:r="http://schemas.openxmlformats.org/officeDocument/2006/relationships" id="263" r:id="Rfcc532a2ddf044e0"/>
    <p:sldId xmlns:r="http://schemas.openxmlformats.org/officeDocument/2006/relationships" id="264" r:id="R2cca3a1e52a34d4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dfc487c42364176" /><Relationship Type="http://schemas.openxmlformats.org/officeDocument/2006/relationships/slideMaster" Target="/ppt/slideMasters/slideMaster1.xml" Id="Rfa75221a3dff4a06" /><Relationship Type="http://schemas.openxmlformats.org/officeDocument/2006/relationships/notesMaster" Target="/ppt/notesMasters/notesMaster1.xml" Id="Raaf24a42cee649a0" /><Relationship Type="http://schemas.openxmlformats.org/officeDocument/2006/relationships/presProps" Target="/ppt/presProps.xml" Id="R3687ffccadcb4b0b" /><Relationship Type="http://schemas.openxmlformats.org/officeDocument/2006/relationships/tableStyles" Target="/ppt/tableStyles.xml" Id="R9d3c1fb387544d4e" /><Relationship Type="http://schemas.openxmlformats.org/officeDocument/2006/relationships/slide" Target="/ppt/slides/slide1.xml" Id="Ra81eb4e8b2684335" /><Relationship Type="http://schemas.openxmlformats.org/officeDocument/2006/relationships/slide" Target="/ppt/slides/slide2.xml" Id="Rcb2a1edbf78f46ae" /><Relationship Type="http://schemas.openxmlformats.org/officeDocument/2006/relationships/slide" Target="/ppt/slides/slide3.xml" Id="Rbd28a6c0c4614eff" /><Relationship Type="http://schemas.openxmlformats.org/officeDocument/2006/relationships/slide" Target="/ppt/slides/slide4.xml" Id="Rd3f8e1373f9c4711" /><Relationship Type="http://schemas.openxmlformats.org/officeDocument/2006/relationships/slide" Target="/ppt/slides/slide5.xml" Id="R6046a28226ee4085" /><Relationship Type="http://schemas.openxmlformats.org/officeDocument/2006/relationships/slide" Target="/ppt/slides/slide6.xml" Id="Rc33cb038192641ab" /><Relationship Type="http://schemas.openxmlformats.org/officeDocument/2006/relationships/slide" Target="/ppt/slides/slide7.xml" Id="Ra0d22b14c7974556" /><Relationship Type="http://schemas.openxmlformats.org/officeDocument/2006/relationships/slide" Target="/ppt/slides/slide8.xml" Id="Rfcc532a2ddf044e0" /><Relationship Type="http://schemas.openxmlformats.org/officeDocument/2006/relationships/slide" Target="/ppt/slides/slide9.xml" Id="R2cca3a1e52a34d4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8901bcf86fa4a3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def7da080d943b7" /><Relationship Type="http://schemas.openxmlformats.org/officeDocument/2006/relationships/notesMaster" Target="/ppt/notesMasters/notesMaster1.xml" Id="Rdc596de6e8ef42aa" /></Relationships>
</file>

<file path=ppt/notesSlides/_rels/notesSlide2.xml.rels>&#65279;<?xml version="1.0" encoding="utf-8"?><Relationships xmlns="http://schemas.openxmlformats.org/package/2006/relationships"><Relationship Type="http://schemas.openxmlformats.org/officeDocument/2006/relationships/slide" Target="/ppt/slides/slide2.xml" Id="R4afff670da574a92" /><Relationship Type="http://schemas.openxmlformats.org/officeDocument/2006/relationships/notesMaster" Target="/ppt/notesMasters/notesMaster1.xml" Id="R3f0a713ba79749bf" /></Relationships>
</file>

<file path=ppt/notesSlides/_rels/notesSlide3.xml.rels>&#65279;<?xml version="1.0" encoding="utf-8"?><Relationships xmlns="http://schemas.openxmlformats.org/package/2006/relationships"><Relationship Type="http://schemas.openxmlformats.org/officeDocument/2006/relationships/slide" Target="/ppt/slides/slide3.xml" Id="Rd898a24e434f43b2" /><Relationship Type="http://schemas.openxmlformats.org/officeDocument/2006/relationships/notesMaster" Target="/ppt/notesMasters/notesMaster1.xml" Id="Rf74dd86e8c6a480f" /></Relationships>
</file>

<file path=ppt/notesSlides/_rels/notesSlide4.xml.rels>&#65279;<?xml version="1.0" encoding="utf-8"?><Relationships xmlns="http://schemas.openxmlformats.org/package/2006/relationships"><Relationship Type="http://schemas.openxmlformats.org/officeDocument/2006/relationships/slide" Target="/ppt/slides/slide4.xml" Id="Rbff2eb0af00b4571" /><Relationship Type="http://schemas.openxmlformats.org/officeDocument/2006/relationships/notesMaster" Target="/ppt/notesMasters/notesMaster1.xml" Id="R1a0bf29f1d0f48bb" /></Relationships>
</file>

<file path=ppt/notesSlides/_rels/notesSlide5.xml.rels>&#65279;<?xml version="1.0" encoding="utf-8"?><Relationships xmlns="http://schemas.openxmlformats.org/package/2006/relationships"><Relationship Type="http://schemas.openxmlformats.org/officeDocument/2006/relationships/slide" Target="/ppt/slides/slide5.xml" Id="R1be58c757d4a4fa6" /><Relationship Type="http://schemas.openxmlformats.org/officeDocument/2006/relationships/notesMaster" Target="/ppt/notesMasters/notesMaster1.xml" Id="R5889cf3485044855" /></Relationships>
</file>

<file path=ppt/notesSlides/_rels/notesSlide6.xml.rels>&#65279;<?xml version="1.0" encoding="utf-8"?><Relationships xmlns="http://schemas.openxmlformats.org/package/2006/relationships"><Relationship Type="http://schemas.openxmlformats.org/officeDocument/2006/relationships/slide" Target="/ppt/slides/slide6.xml" Id="R21037990e8f94f92" /><Relationship Type="http://schemas.openxmlformats.org/officeDocument/2006/relationships/notesMaster" Target="/ppt/notesMasters/notesMaster1.xml" Id="R1872f94a80894dee" /></Relationships>
</file>

<file path=ppt/notesSlides/_rels/notesSlide7.xml.rels>&#65279;<?xml version="1.0" encoding="utf-8"?><Relationships xmlns="http://schemas.openxmlformats.org/package/2006/relationships"><Relationship Type="http://schemas.openxmlformats.org/officeDocument/2006/relationships/slide" Target="/ppt/slides/slide7.xml" Id="R6817a0ede56c4123" /><Relationship Type="http://schemas.openxmlformats.org/officeDocument/2006/relationships/notesMaster" Target="/ppt/notesMasters/notesMaster1.xml" Id="R057a5ae8cfd94fde" /></Relationships>
</file>

<file path=ppt/notesSlides/_rels/notesSlide8.xml.rels>&#65279;<?xml version="1.0" encoding="utf-8"?><Relationships xmlns="http://schemas.openxmlformats.org/package/2006/relationships"><Relationship Type="http://schemas.openxmlformats.org/officeDocument/2006/relationships/slide" Target="/ppt/slides/slide8.xml" Id="R60d31fe254b34bf4" /><Relationship Type="http://schemas.openxmlformats.org/officeDocument/2006/relationships/notesMaster" Target="/ppt/notesMasters/notesMaster1.xml" Id="R79c387d69dbd42ca" /></Relationships>
</file>

<file path=ppt/notesSlides/_rels/notesSlide9.xml.rels>&#65279;<?xml version="1.0" encoding="utf-8"?><Relationships xmlns="http://schemas.openxmlformats.org/package/2006/relationships"><Relationship Type="http://schemas.openxmlformats.org/officeDocument/2006/relationships/slide" Target="/ppt/slides/slide9.xml" Id="Rd5dedba7dbff41a6" /><Relationship Type="http://schemas.openxmlformats.org/officeDocument/2006/relationships/notesMaster" Target="/ppt/notesMasters/notesMaster1.xml" Id="Rfcbb1f9d5e8c43a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40 seconds including the film. Introduce the title, then play urban-heat.mp4 in the video player. The supplied film lasts 30.42 seconds. Return to the deck after playback. The movie is provided alongside the deck, not embedded. The image is an AI-generated fictional scene supplied by the team.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50 seconds. Explain that our story takes place in a fictional Dutch neighbourhood on a hot summer day. KNMI states that city–countryside temperature differences can reach 4°C for a city of 10,000 inhabitants and 7°C for a city of 200,000 inhabitants. These large differences occur on clear, calm nights. They are not a measured difference between our daytime benches. EPA explains the cooling roles of shade and evapotranspiration. Sources: https://www.knmi.nl/kennis-en-datacentrum/uitleg/stadsklimaat and https://www.epa.gov/heatislands/benefits-trees-and-vegetation . Starting image supplied by the team.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45 seconds. The intended audience is students aged about 18–25 in Dutch cities, especially those walking between classes, public transport and home. We chose a student-association Instagram feed as the intended placement, with YouTube as the portfolio copy. Familiarity with heat but limited attention to street design is a design assumption, not audience research. The film does not meet the needs of professional planners or people seeking personalised health advice. Its mobile young protagonists do not represent everyone affected by heat. Image supplied by the team.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45 seconds. Describe the sequence: students walk through the neighbourhood, leaves move in the paved street, the students feel uncomfortable on a sunlit bench, they walk toward shade, we see green leaves, and they relax on a shaded bench. Shots last roughly five seconds. The same clothes and hairstyles support continuity. The three images on this slide are supplied starting frames for shots 2, 4 and 5. Dry leaves are a storytelling cue, not evidence of climate change.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65 seconds. Inputs are a starting frame, a motion prompt, a negative prompt and saved settings. Load Image provides the composition. The CLIP text encoder encodes prompts. Wan22ImageToVideoLatent prepares the sequence. Wan 2.2 and KSampler generate motion. The VAE decoder converts latent samples to visible frames. Create Video and Save Video produce the clip. Editing the six clips and adding sound is a separate manual production step. Working settings: 768×768, 121 frames, 24 fps, batch 1, 30 steps, CFG 4, uni_pc, simple scheduler, denoise 1 and shift 8. Final per-shot exports and seeds still need archiving. Official workflow reference: https://docs.comfy.org/tutorials/video/wan/wan2_2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55 seconds. Explain the actual iteration problems: static-looking shots, facial distortion, inconsistent characters, memory limits and decoding artefacts. Action-specific prompts were more useful than scene descriptions alone. Changing seeds changed results, but a seed alone did not guarantee quality. We adjusted tile sizes while troubleshooting but did not isolate every cause. Some long renders still looked poor. A reported render took about an hour. The practical lesson is to save a successful workflow and review the output rather than assuming more compute guarantees improvement.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60 seconds. Photorealistic climate imagery could mislead viewers into treating fictional scenes as documentation. We avoided named places and exact temperature claims within the story. No real person was intentionally depicted. A visible disclosure inside the film still needs confirmation or implementation. This presentation's disclosure does not substitute for the film safeguard. Multiple generations used GPU resources; we do not have an energy measurement or complete generation count. We should record an honest estimate from logs. A related assignment constraint remains: some starting images came from another generator, which conflicts with the all-ComfyUI rule unless the teacher grants an exception. Do not claim that all visuals originated in ComfyUI.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45 seconds. Target 13.3 concerns education and awareness of climate mitigation, adaptation and impact reduction. Our contribution is a short awareness film about urban heat and greenery. We have not measured changes in understanding or behaviour. A useful next test would ask students what they took away and whether they recognise the scenes as AI-generated. Before submission, complete the successful final workflow archive, the film disclosure, the audio record and the YouTube link. The known all-ComfyUI provenance conflict requires compliant replacement or an explicit teacher-approved exception. Source: https://sdgs.un.org/goals/goal13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slide. The planned main talk lasts about 6 minutes 45 seconds including the film, before questions. Sources checked on 1 October 2026. Use the supplied README and rubric check for the complete evidence record. The film is a fictional illustration. KNMI's large urban temperature differences concern clear, calm nights. The EPA source supports cooling mechanisms, not a precise cooling claim for the fictional street. UN Goal 13 target 13.3 supports the awareness framing. ComfyUI documentation supports the native Wan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8a5245f981a472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3db841a40584b30" /><Relationship Type="http://schemas.openxmlformats.org/officeDocument/2006/relationships/slideLayout" Target="/ppt/slideLayouts/slideLayout1.xml" Id="R48b5553abf43481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8b5553abf43481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97e674f2372436b" /><Relationship Type="http://schemas.openxmlformats.org/officeDocument/2006/relationships/image" Target="/ppt/media/image.png" Id="Rc33f5449a2c84891" /><Relationship Type="http://schemas.openxmlformats.org/officeDocument/2006/relationships/notesSlide" Target="/ppt/notesSlides/notesSlide1.xml" Id="R381bb979755849e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324980ec36c491c" /><Relationship Type="http://schemas.openxmlformats.org/officeDocument/2006/relationships/image" Target="/ppt/media/image2.png" Id="R8ea7d21846d54c2d" /><Relationship Type="http://schemas.openxmlformats.org/officeDocument/2006/relationships/notesSlide" Target="/ppt/notesSlides/notesSlide2.xml" Id="R6a8aeea221d44c9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6cd32523dab43f6" /><Relationship Type="http://schemas.openxmlformats.org/officeDocument/2006/relationships/image" Target="/ppt/media/image3.png" Id="R8fb072c0a70b448f" /><Relationship Type="http://schemas.openxmlformats.org/officeDocument/2006/relationships/notesSlide" Target="/ppt/notesSlides/notesSlide3.xml" Id="Rfc3aa05850a34dd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b6589ed66d74adc" /><Relationship Type="http://schemas.openxmlformats.org/officeDocument/2006/relationships/image" Target="/ppt/media/image4.png" Id="Raddc8a7cd07c436b" /><Relationship Type="http://schemas.openxmlformats.org/officeDocument/2006/relationships/image" Target="/ppt/media/image5.png" Id="Rb37fec3ad0684efc" /><Relationship Type="http://schemas.openxmlformats.org/officeDocument/2006/relationships/image" Target="/ppt/media/image6.png" Id="R36a5e97510a34cab" /><Relationship Type="http://schemas.openxmlformats.org/officeDocument/2006/relationships/notesSlide" Target="/ppt/notesSlides/notesSlide4.xml" Id="R38ed1e9ffe8343b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e05ac2efd124bfb" /><Relationship Type="http://schemas.openxmlformats.org/officeDocument/2006/relationships/notesSlide" Target="/ppt/notesSlides/notesSlide5.xml" Id="Rf1160bc4087841b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d1a9035dda84885" /><Relationship Type="http://schemas.openxmlformats.org/officeDocument/2006/relationships/notesSlide" Target="/ppt/notesSlides/notesSlide6.xml" Id="Rcfbb7d3a17204db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49a46cdabf64839" /><Relationship Type="http://schemas.openxmlformats.org/officeDocument/2006/relationships/notesSlide" Target="/ppt/notesSlides/notesSlide7.xml" Id="Re209434008f2453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c8322690618408c" /><Relationship Type="http://schemas.openxmlformats.org/officeDocument/2006/relationships/notesSlide" Target="/ppt/notesSlides/notesSlide8.xml" Id="R4c75498dd3af403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c137faff66042a0" /><Relationship Type="http://schemas.openxmlformats.org/officeDocument/2006/relationships/notesSlide" Target="/ppt/notesSlides/notesSlide9.xml" Id="R1a0d3228e9bd4c00" /></Relationships>
</file>

<file path=ppt/slides/slide1.xml><?xml version="1.0" encoding="utf-8"?>
<p:sld xmlns:p="http://schemas.openxmlformats.org/presentationml/2006/main">
  <p:cSld>
    <p:bg>
      <p:bgPr>
        <a:solidFill xmlns:a="http://schemas.openxmlformats.org/drawingml/2006/main">
          <a:srgbClr val="173C3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1F89E2C-C71C-4AE7-BFEC-1B32BE9ABED9}"/>
              </a:ext>
            </a:extLst>
          </p:cNvPr>
          <p:cNvSpPr>
            <a:spLocks xmlns:a="http://schemas.openxmlformats.org/drawingml/2006/main" noGrp="1"/>
          </p:cNvSpPr>
          <p:nvPr/>
        </p:nvSpPr>
        <p:spPr>
          <a:xfrm xmlns:a="http://schemas.openxmlformats.org/drawingml/2006/main">
            <a:off x="609600" y="42862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FFFFF"/>
                </a:solidFill>
                <a:latin typeface="Bitstream Charter"/>
                <a:ea typeface="Bitstream Charter"/>
                <a:cs typeface="Bitstream Charter"/>
              </a:defRPr>
            </a:pPr>
            <a:r>
              <a:rPr sz="3300" b="1">
                <a:solidFill>
                  <a:srgbClr val="FFFFFF"/>
                </a:solidFill>
                <a:latin typeface="Bitstream Charter"/>
                <a:ea typeface="Bitstream Charter"/>
                <a:cs typeface="Bitstream Charter"/>
              </a:rPr>
              <a:t>Urban Heat</a:t>
            </a:r>
          </a:p>
        </p:txBody>
      </p:sp>
      <p:sp>
        <p:nvSpPr>
          <p:cNvPr id="2" name="">
            <a:extLst xmlns:a="http://schemas.openxmlformats.org/drawingml/2006/main">
              <a:ext uri="{FF2B5EF4-FFF2-40B4-BE49-F238E27FC236}">
                <a16:creationId xmlns:a16="http://schemas.microsoft.com/office/drawing/2014/main" id="{CE431B92-DE54-41AA-BCF1-4C5463C85577}"/>
              </a:ext>
            </a:extLst>
          </p:cNvPr>
          <p:cNvSpPr>
            <a:spLocks xmlns:a="http://schemas.openxmlformats.org/drawingml/2006/main" noGrp="1"/>
          </p:cNvSpPr>
          <p:nvPr/>
        </p:nvSpPr>
        <p:spPr>
          <a:xfrm xmlns:a="http://schemas.openxmlformats.org/drawingml/2006/main">
            <a:off x="609600" y="1666875"/>
            <a:ext cx="5143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FFFFF"/>
                </a:solidFill>
                <a:latin typeface="Bitstream Charter"/>
                <a:ea typeface="Bitstream Charter"/>
                <a:cs typeface="Bitstream Charter"/>
              </a:defRPr>
            </a:pPr>
            <a:r>
              <a:rPr sz="4500" b="1">
                <a:solidFill>
                  <a:srgbClr val="FFFFFF"/>
                </a:solidFill>
                <a:latin typeface="Bitstream Charter"/>
                <a:ea typeface="Bitstream Charter"/>
                <a:cs typeface="Bitstream Charter"/>
              </a:rPr>
              <a:t>Make room for nature</a:t>
            </a:r>
          </a:p>
        </p:txBody>
      </p:sp>
      <p:sp>
        <p:nvSpPr>
          <p:cNvPr id="3" name="">
            <a:extLst xmlns:a="http://schemas.openxmlformats.org/drawingml/2006/main">
              <a:ext uri="{FF2B5EF4-FFF2-40B4-BE49-F238E27FC236}">
                <a16:creationId xmlns:a16="http://schemas.microsoft.com/office/drawing/2014/main" id="{19225624-A3DB-4E9E-B685-0010E744C380}"/>
              </a:ext>
            </a:extLst>
          </p:cNvPr>
          <p:cNvSpPr>
            <a:spLocks xmlns:a="http://schemas.openxmlformats.org/drawingml/2006/main" noGrp="1"/>
          </p:cNvSpPr>
          <p:nvPr/>
        </p:nvSpPr>
        <p:spPr>
          <a:xfrm xmlns:a="http://schemas.openxmlformats.org/drawingml/2006/main">
            <a:off x="609600" y="3381375"/>
            <a:ext cx="485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1DED1"/>
                </a:solidFill>
                <a:latin typeface="Bitstream Charter"/>
                <a:ea typeface="Bitstream Charter"/>
                <a:cs typeface="Bitstream Charter"/>
              </a:defRPr>
            </a:pPr>
            <a:r>
              <a:rPr sz="2100" b="0">
                <a:solidFill>
                  <a:srgbClr val="D1DED1"/>
                </a:solidFill>
                <a:latin typeface="Bitstream Charter"/>
                <a:ea typeface="Bitstream Charter"/>
                <a:cs typeface="Bitstream Charter"/>
              </a:rPr>
              <a:t>A 30-second climate-awareness film</a:t>
            </a:r>
          </a:p>
        </p:txBody>
      </p:sp>
      <p:sp>
        <p:nvSpPr>
          <p:cNvPr id="4" name="">
            <a:extLst xmlns:a="http://schemas.openxmlformats.org/drawingml/2006/main">
              <a:ext uri="{FF2B5EF4-FFF2-40B4-BE49-F238E27FC236}">
                <a16:creationId xmlns:a16="http://schemas.microsoft.com/office/drawing/2014/main" id="{E4C51888-3644-493F-98EB-1E52FDF49EB2}"/>
              </a:ext>
            </a:extLst>
          </p:cNvPr>
          <p:cNvSpPr>
            <a:spLocks xmlns:a="http://schemas.openxmlformats.org/drawingml/2006/main" noGrp="1"/>
          </p:cNvSpPr>
          <p:nvPr/>
        </p:nvSpPr>
        <p:spPr>
          <a:xfrm xmlns:a="http://schemas.openxmlformats.org/drawingml/2006/main">
            <a:off x="609600" y="48006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Bitstream Charter"/>
                <a:ea typeface="Bitstream Charter"/>
                <a:cs typeface="Bitstream Charter"/>
              </a:defRPr>
            </a:pPr>
            <a:r>
              <a:rPr sz="1875" b="0">
                <a:solidFill>
                  <a:srgbClr val="FFFFFF"/>
                </a:solidFill>
                <a:latin typeface="Bitstream Charter"/>
                <a:ea typeface="Bitstream Charter"/>
                <a:cs typeface="Bitstream Charter"/>
              </a:rPr>
              <a:t>Opening demo: play the film</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c33f5449a2c84891"/>
          <a:stretch xmlns:a="http://schemas.openxmlformats.org/drawingml/2006/main"/>
        </p:blipFill>
        <p:spPr>
          <a:xfrm xmlns:a="http://schemas.openxmlformats.org/drawingml/2006/main">
            <a:off x="6591300" y="1285875"/>
            <a:ext cx="4762500" cy="4762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DFFDBFC-72EE-4964-B46D-098A0C4A3099}"/>
              </a:ext>
            </a:extLst>
          </p:cNvPr>
          <p:cNvSpPr>
            <a:spLocks xmlns:a="http://schemas.openxmlformats.org/drawingml/2006/main" noGrp="1"/>
          </p:cNvSpPr>
          <p:nvPr/>
        </p:nvSpPr>
        <p:spPr>
          <a:xfrm xmlns:a="http://schemas.openxmlformats.org/drawingml/2006/main">
            <a:off x="609600" y="62484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D1DED1"/>
                </a:solidFill>
                <a:latin typeface="Bitstream Charter"/>
                <a:ea typeface="Bitstream Charter"/>
                <a:cs typeface="Bitstream Charter"/>
              </a:defRPr>
            </a:pPr>
            <a:r>
              <a:rPr sz="1275" b="0">
                <a:solidFill>
                  <a:srgbClr val="D1DED1"/>
                </a:solidFill>
                <a:latin typeface="Bitstream Charter"/>
                <a:ea typeface="Bitstream Charter"/>
                <a:cs typeface="Bitstream Charter"/>
              </a:rPr>
              <a:t>SDG 13: Climate Action     /     AI-generated fictional scenes</a:t>
            </a:r>
          </a:p>
        </p:txBody>
      </p:sp>
    </p:spTree>
    <p:extLst>
      <p:ext uri="{BB962C8B-B14F-4D97-AF65-F5344CB8AC3E}">
        <p14:creationId xmlns:p14="http://schemas.microsoft.com/office/powerpoint/2010/main" val="2136837148"/>
      </p:ext>
    </p:extLst>
  </p:cSld>
</p:sld>
</file>

<file path=ppt/slides/slide2.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FE3023B-BB37-4075-B833-CCDB5B50AC77}"/>
              </a:ext>
            </a:extLst>
          </p:cNvPr>
          <p:cNvSpPr>
            <a:spLocks xmlns:a="http://schemas.openxmlformats.org/drawingml/2006/main" noGrp="1"/>
          </p:cNvSpPr>
          <p:nvPr/>
        </p:nvSpPr>
        <p:spPr>
          <a:xfrm xmlns:a="http://schemas.openxmlformats.org/drawingml/2006/main">
            <a:off x="609600" y="42862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C30"/>
                </a:solidFill>
                <a:latin typeface="Bitstream Charter"/>
                <a:ea typeface="Bitstream Charter"/>
                <a:cs typeface="Bitstream Charter"/>
              </a:defRPr>
            </a:pPr>
            <a:r>
              <a:rPr sz="3300" b="1">
                <a:solidFill>
                  <a:srgbClr val="173C30"/>
                </a:solidFill>
                <a:latin typeface="Bitstream Charter"/>
                <a:ea typeface="Bitstream Charter"/>
                <a:cs typeface="Bitstream Charter"/>
              </a:rPr>
              <a:t>Urban heat in everyday spaces</a:t>
            </a:r>
          </a:p>
        </p:txBody>
      </p:sp>
      <p:sp>
        <p:nvSpPr>
          <p:cNvPr id="2" name="">
            <a:extLst xmlns:a="http://schemas.openxmlformats.org/drawingml/2006/main">
              <a:ext uri="{FF2B5EF4-FFF2-40B4-BE49-F238E27FC236}">
                <a16:creationId xmlns:a16="http://schemas.microsoft.com/office/drawing/2014/main" id="{B22364A6-C9CB-4456-AE3C-B4187A75D240}"/>
              </a:ext>
            </a:extLst>
          </p:cNvPr>
          <p:cNvSpPr>
            <a:spLocks xmlns:a="http://schemas.openxmlformats.org/drawingml/2006/main" noGrp="1"/>
          </p:cNvSpPr>
          <p:nvPr/>
        </p:nvSpPr>
        <p:spPr>
          <a:xfrm xmlns:a="http://schemas.openxmlformats.org/drawingml/2006/main">
            <a:off x="609600" y="1619250"/>
            <a:ext cx="5524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C30"/>
                </a:solidFill>
                <a:latin typeface="Bitstream Charter"/>
                <a:ea typeface="Bitstream Charter"/>
                <a:cs typeface="Bitstream Charter"/>
              </a:defRPr>
            </a:pPr>
            <a:r>
              <a:rPr sz="2550" b="1">
                <a:solidFill>
                  <a:srgbClr val="173C30"/>
                </a:solidFill>
                <a:latin typeface="Bitstream Charter"/>
                <a:ea typeface="Bitstream Charter"/>
                <a:cs typeface="Bitstream Charter"/>
              </a:rPr>
              <a:t>Paving and buildings store heat.</a:t>
            </a:r>
          </a:p>
          <a:p xmlns:a="http://schemas.openxmlformats.org/drawingml/2006/main">
            <a:pPr>
              <a:defRPr sz="2550" b="1">
                <a:solidFill>
                  <a:srgbClr val="173C30"/>
                </a:solidFill>
                <a:latin typeface="Bitstream Charter"/>
                <a:ea typeface="Bitstream Charter"/>
                <a:cs typeface="Bitstream Charter"/>
              </a:defRPr>
            </a:pPr>
            <a:r>
              <a:rPr sz="2550" b="1">
                <a:solidFill>
                  <a:srgbClr val="173C30"/>
                </a:solidFill>
                <a:latin typeface="Bitstream Charter"/>
                <a:ea typeface="Bitstream Charter"/>
                <a:cs typeface="Bitstream Charter"/>
              </a:rPr>
              <a:t>Shade changes how an outdoor space feels.</a:t>
            </a:r>
          </a:p>
        </p:txBody>
      </p:sp>
      <p:sp>
        <p:nvSpPr>
          <p:cNvPr id="3" name="">
            <a:extLst xmlns:a="http://schemas.openxmlformats.org/drawingml/2006/main">
              <a:ext uri="{FF2B5EF4-FFF2-40B4-BE49-F238E27FC236}">
                <a16:creationId xmlns:a16="http://schemas.microsoft.com/office/drawing/2014/main" id="{5996DBDB-C099-4E02-8FE5-77A3B6796553}"/>
              </a:ext>
            </a:extLst>
          </p:cNvPr>
          <p:cNvSpPr>
            <a:spLocks xmlns:a="http://schemas.openxmlformats.org/drawingml/2006/main" noGrp="1"/>
          </p:cNvSpPr>
          <p:nvPr/>
        </p:nvSpPr>
        <p:spPr>
          <a:xfrm xmlns:a="http://schemas.openxmlformats.org/drawingml/2006/main">
            <a:off x="609600" y="3524250"/>
            <a:ext cx="5334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C30"/>
                </a:solidFill>
                <a:latin typeface="Bitstream Charter"/>
                <a:ea typeface="Bitstream Charter"/>
                <a:cs typeface="Bitstream Charter"/>
              </a:defRPr>
            </a:pPr>
            <a:r>
              <a:rPr sz="1950" b="0">
                <a:solidFill>
                  <a:srgbClr val="173C30"/>
                </a:solidFill>
                <a:latin typeface="Bitstream Charter"/>
                <a:ea typeface="Bitstream Charter"/>
                <a:cs typeface="Bitstream Charter"/>
              </a:rPr>
              <a:t>KNMI reports city–countryside differences of up to 7°C for a city of 200,000 people, during clear, calm nights.</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8ea7d21846d54c2d"/>
          <a:stretch xmlns:a="http://schemas.openxmlformats.org/drawingml/2006/main"/>
        </p:blipFill>
        <p:spPr>
          <a:xfrm xmlns:a="http://schemas.openxmlformats.org/drawingml/2006/main">
            <a:off x="6762750" y="1524000"/>
            <a:ext cx="4381500" cy="4381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E82C2DA-159A-411E-B3D6-842CCE329CC1}"/>
              </a:ext>
            </a:extLst>
          </p:cNvPr>
          <p:cNvSpPr>
            <a:spLocks xmlns:a="http://schemas.openxmlformats.org/drawingml/2006/main" noGrp="1"/>
          </p:cNvSpPr>
          <p:nvPr/>
        </p:nvSpPr>
        <p:spPr>
          <a:xfrm xmlns:a="http://schemas.openxmlformats.org/drawingml/2006/main">
            <a:off x="609600" y="62484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75E"/>
                </a:solidFill>
                <a:latin typeface="Bitstream Charter"/>
                <a:ea typeface="Bitstream Charter"/>
                <a:cs typeface="Bitstream Charter"/>
              </a:defRPr>
            </a:pPr>
            <a:r>
              <a:rPr sz="1275" b="0">
                <a:solidFill>
                  <a:srgbClr val="59675E"/>
                </a:solidFill>
                <a:latin typeface="Bitstream Charter"/>
                <a:ea typeface="Bitstream Charter"/>
                <a:cs typeface="Bitstream Charter"/>
              </a:rPr>
              <a:t>The film illustrates a daytime experience. It does not measure temperature.</a:t>
            </a:r>
          </a:p>
        </p:txBody>
      </p:sp>
    </p:spTree>
    <p:extLst>
      <p:ext uri="{BB962C8B-B14F-4D97-AF65-F5344CB8AC3E}">
        <p14:creationId xmlns:p14="http://schemas.microsoft.com/office/powerpoint/2010/main" val="1000703767"/>
      </p:ext>
    </p:extLst>
  </p:cSld>
</p:sld>
</file>

<file path=ppt/slides/slide3.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C38E160-9B96-4293-94B1-856A1A18C70F}"/>
              </a:ext>
            </a:extLst>
          </p:cNvPr>
          <p:cNvSpPr>
            <a:spLocks xmlns:a="http://schemas.openxmlformats.org/drawingml/2006/main" noGrp="1"/>
          </p:cNvSpPr>
          <p:nvPr/>
        </p:nvSpPr>
        <p:spPr>
          <a:xfrm xmlns:a="http://schemas.openxmlformats.org/drawingml/2006/main">
            <a:off x="609600" y="42862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C30"/>
                </a:solidFill>
                <a:latin typeface="Bitstream Charter"/>
                <a:ea typeface="Bitstream Charter"/>
                <a:cs typeface="Bitstream Charter"/>
              </a:defRPr>
            </a:pPr>
            <a:r>
              <a:rPr sz="3300" b="1">
                <a:solidFill>
                  <a:srgbClr val="173C30"/>
                </a:solidFill>
                <a:latin typeface="Bitstream Charter"/>
                <a:ea typeface="Bitstream Charter"/>
                <a:cs typeface="Bitstream Charter"/>
              </a:rPr>
              <a:t>Our audience</a:t>
            </a:r>
          </a:p>
        </p:txBody>
      </p:sp>
      <p:sp>
        <p:nvSpPr>
          <p:cNvPr id="2" name="">
            <a:extLst xmlns:a="http://schemas.openxmlformats.org/drawingml/2006/main">
              <a:ext uri="{FF2B5EF4-FFF2-40B4-BE49-F238E27FC236}">
                <a16:creationId xmlns:a16="http://schemas.microsoft.com/office/drawing/2014/main" id="{6868AFC4-B4E1-4B82-8EDE-A444472127BF}"/>
              </a:ext>
            </a:extLst>
          </p:cNvPr>
          <p:cNvSpPr>
            <a:spLocks xmlns:a="http://schemas.openxmlformats.org/drawingml/2006/main" noGrp="1"/>
          </p:cNvSpPr>
          <p:nvPr/>
        </p:nvSpPr>
        <p:spPr>
          <a:xfrm xmlns:a="http://schemas.openxmlformats.org/drawingml/2006/main">
            <a:off x="609600" y="1619250"/>
            <a:ext cx="5810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3C30"/>
                </a:solidFill>
                <a:latin typeface="Bitstream Charter"/>
                <a:ea typeface="Bitstream Charter"/>
                <a:cs typeface="Bitstream Charter"/>
              </a:defRPr>
            </a:pPr>
            <a:r>
              <a:rPr sz="2850" b="1">
                <a:solidFill>
                  <a:srgbClr val="173C30"/>
                </a:solidFill>
                <a:latin typeface="Bitstream Charter"/>
                <a:ea typeface="Bitstream Charter"/>
                <a:cs typeface="Bitstream Charter"/>
              </a:rPr>
              <a:t>Students aged 18–25</a:t>
            </a:r>
          </a:p>
          <a:p xmlns:a="http://schemas.openxmlformats.org/drawingml/2006/main">
            <a:pPr>
              <a:defRPr sz="2850" b="1">
                <a:solidFill>
                  <a:srgbClr val="173C30"/>
                </a:solidFill>
                <a:latin typeface="Bitstream Charter"/>
                <a:ea typeface="Bitstream Charter"/>
                <a:cs typeface="Bitstream Charter"/>
              </a:defRPr>
            </a:pPr>
            <a:r>
              <a:rPr sz="2850" b="1">
                <a:solidFill>
                  <a:srgbClr val="173C30"/>
                </a:solidFill>
                <a:latin typeface="Bitstream Charter"/>
                <a:ea typeface="Bitstream Charter"/>
                <a:cs typeface="Bitstream Charter"/>
              </a:rPr>
              <a:t>in Dutch cities</a:t>
            </a:r>
          </a:p>
        </p:txBody>
      </p:sp>
      <p:sp>
        <p:nvSpPr>
          <p:cNvPr id="3" name="">
            <a:extLst xmlns:a="http://schemas.openxmlformats.org/drawingml/2006/main">
              <a:ext uri="{FF2B5EF4-FFF2-40B4-BE49-F238E27FC236}">
                <a16:creationId xmlns:a16="http://schemas.microsoft.com/office/drawing/2014/main" id="{A091E62B-8EB3-4944-8FB3-A327832D96F2}"/>
              </a:ext>
            </a:extLst>
          </p:cNvPr>
          <p:cNvSpPr>
            <a:spLocks xmlns:a="http://schemas.openxmlformats.org/drawingml/2006/main" noGrp="1"/>
          </p:cNvSpPr>
          <p:nvPr/>
        </p:nvSpPr>
        <p:spPr>
          <a:xfrm xmlns:a="http://schemas.openxmlformats.org/drawingml/2006/main">
            <a:off x="609600" y="3105150"/>
            <a:ext cx="5715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C30"/>
                </a:solidFill>
                <a:latin typeface="Bitstream Charter"/>
                <a:ea typeface="Bitstream Charter"/>
                <a:cs typeface="Bitstream Charter"/>
              </a:defRPr>
            </a:pPr>
            <a:r>
              <a:rPr sz="2025" b="0">
                <a:solidFill>
                  <a:srgbClr val="173C30"/>
                </a:solidFill>
                <a:latin typeface="Bitstream Charter"/>
                <a:ea typeface="Bitstream Charter"/>
                <a:cs typeface="Bitstream Charter"/>
              </a:rPr>
              <a:t>Context</a:t>
            </a:r>
          </a:p>
          <a:p xmlns:a="http://schemas.openxmlformats.org/drawingml/2006/main">
            <a:pPr>
              <a:defRPr sz="2025" b="0">
                <a:solidFill>
                  <a:srgbClr val="173C30"/>
                </a:solidFill>
                <a:latin typeface="Bitstream Charter"/>
                <a:ea typeface="Bitstream Charter"/>
                <a:cs typeface="Bitstream Charter"/>
              </a:defRPr>
            </a:pPr>
            <a:r>
              <a:rPr sz="2025" b="0">
                <a:solidFill>
                  <a:srgbClr val="173C30"/>
                </a:solidFill>
                <a:latin typeface="Bitstream Charter"/>
                <a:ea typeface="Bitstream Charter"/>
                <a:cs typeface="Bitstream Charter"/>
              </a:rPr>
              <a:t>Walking between classes, transport and home</a:t>
            </a:r>
          </a:p>
        </p:txBody>
      </p:sp>
      <p:sp>
        <p:nvSpPr>
          <p:cNvPr id="4" name="">
            <a:extLst xmlns:a="http://schemas.openxmlformats.org/drawingml/2006/main">
              <a:ext uri="{FF2B5EF4-FFF2-40B4-BE49-F238E27FC236}">
                <a16:creationId xmlns:a16="http://schemas.microsoft.com/office/drawing/2014/main" id="{D122FFB3-AE5D-46B2-A7C6-A17FE86AEAAC}"/>
              </a:ext>
            </a:extLst>
          </p:cNvPr>
          <p:cNvSpPr>
            <a:spLocks xmlns:a="http://schemas.openxmlformats.org/drawingml/2006/main" noGrp="1"/>
          </p:cNvSpPr>
          <p:nvPr/>
        </p:nvSpPr>
        <p:spPr>
          <a:xfrm xmlns:a="http://schemas.openxmlformats.org/drawingml/2006/main">
            <a:off x="609600" y="4457700"/>
            <a:ext cx="5715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C30"/>
                </a:solidFill>
                <a:latin typeface="Bitstream Charter"/>
                <a:ea typeface="Bitstream Charter"/>
                <a:cs typeface="Bitstream Charter"/>
              </a:defRPr>
            </a:pPr>
            <a:r>
              <a:rPr sz="2025" b="0">
                <a:solidFill>
                  <a:srgbClr val="173C30"/>
                </a:solidFill>
                <a:latin typeface="Bitstream Charter"/>
                <a:ea typeface="Bitstream Charter"/>
                <a:cs typeface="Bitstream Charter"/>
              </a:rPr>
              <a:t>Placement</a:t>
            </a:r>
          </a:p>
          <a:p xmlns:a="http://schemas.openxmlformats.org/drawingml/2006/main">
            <a:pPr>
              <a:defRPr sz="2025" b="0">
                <a:solidFill>
                  <a:srgbClr val="173C30"/>
                </a:solidFill>
                <a:latin typeface="Bitstream Charter"/>
                <a:ea typeface="Bitstream Charter"/>
                <a:cs typeface="Bitstream Charter"/>
              </a:defRPr>
            </a:pPr>
            <a:r>
              <a:rPr sz="2025" b="0">
                <a:solidFill>
                  <a:srgbClr val="173C30"/>
                </a:solidFill>
                <a:latin typeface="Bitstream Charter"/>
                <a:ea typeface="Bitstream Charter"/>
                <a:cs typeface="Bitstream Charter"/>
              </a:rPr>
              <a:t>A student association’s Instagram feed</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8fb072c0a70b448f"/>
          <a:stretch xmlns:a="http://schemas.openxmlformats.org/drawingml/2006/main"/>
        </p:blipFill>
        <p:spPr>
          <a:xfrm xmlns:a="http://schemas.openxmlformats.org/drawingml/2006/main">
            <a:off x="7048500" y="1581150"/>
            <a:ext cx="4286250"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B444000-E25F-41D1-9F3A-7F369D880EF1}"/>
              </a:ext>
            </a:extLst>
          </p:cNvPr>
          <p:cNvSpPr>
            <a:spLocks xmlns:a="http://schemas.openxmlformats.org/drawingml/2006/main" noGrp="1"/>
          </p:cNvSpPr>
          <p:nvPr/>
        </p:nvSpPr>
        <p:spPr>
          <a:xfrm xmlns:a="http://schemas.openxmlformats.org/drawingml/2006/main">
            <a:off x="609600" y="62484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75E"/>
                </a:solidFill>
                <a:latin typeface="Bitstream Charter"/>
                <a:ea typeface="Bitstream Charter"/>
                <a:cs typeface="Bitstream Charter"/>
              </a:defRPr>
            </a:pPr>
            <a:r>
              <a:rPr sz="1275" b="0">
                <a:solidFill>
                  <a:srgbClr val="59675E"/>
                </a:solidFill>
                <a:latin typeface="Bitstream Charter"/>
                <a:ea typeface="Bitstream Charter"/>
                <a:cs typeface="Bitstream Charter"/>
              </a:rPr>
              <a:t>Specialist planning and personal health advice fall outside this film’s scope.</a:t>
            </a:r>
          </a:p>
        </p:txBody>
      </p:sp>
    </p:spTree>
    <p:extLst>
      <p:ext uri="{BB962C8B-B14F-4D97-AF65-F5344CB8AC3E}">
        <p14:creationId xmlns:p14="http://schemas.microsoft.com/office/powerpoint/2010/main" val="1167628802"/>
      </p:ext>
    </p:extLst>
  </p:cSld>
</p:sld>
</file>

<file path=ppt/slides/slide4.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F9E8B6B-9ABD-4D75-9D1B-5A290BAA7612}"/>
              </a:ext>
            </a:extLst>
          </p:cNvPr>
          <p:cNvSpPr>
            <a:spLocks xmlns:a="http://schemas.openxmlformats.org/drawingml/2006/main" noGrp="1"/>
          </p:cNvSpPr>
          <p:nvPr/>
        </p:nvSpPr>
        <p:spPr>
          <a:xfrm xmlns:a="http://schemas.openxmlformats.org/drawingml/2006/main">
            <a:off x="609600" y="42862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C30"/>
                </a:solidFill>
                <a:latin typeface="Bitstream Charter"/>
                <a:ea typeface="Bitstream Charter"/>
                <a:cs typeface="Bitstream Charter"/>
              </a:defRPr>
            </a:pPr>
            <a:r>
              <a:rPr sz="3300" b="1">
                <a:solidFill>
                  <a:srgbClr val="173C30"/>
                </a:solidFill>
                <a:latin typeface="Bitstream Charter"/>
                <a:ea typeface="Bitstream Charter"/>
                <a:cs typeface="Bitstream Charter"/>
              </a:rPr>
              <a:t>The six-shot story</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ddc8a7cd07c436b"/>
          <a:stretch xmlns:a="http://schemas.openxmlformats.org/drawingml/2006/main"/>
        </p:blipFill>
        <p:spPr>
          <a:xfrm xmlns:a="http://schemas.openxmlformats.org/drawingml/2006/main">
            <a:off x="609600" y="1504950"/>
            <a:ext cx="3333750" cy="3333750"/>
          </a:xfrm>
          <a:prstGeom xmlns:a="http://schemas.openxmlformats.org/drawingml/2006/main" prst="rect">
            <a:avLst/>
          </a:prstGeom>
        </p:spPr>
      </p:pic>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b37fec3ad0684efc"/>
          <a:stretch xmlns:a="http://schemas.openxmlformats.org/drawingml/2006/main"/>
        </p:blipFill>
        <p:spPr>
          <a:xfrm xmlns:a="http://schemas.openxmlformats.org/drawingml/2006/main">
            <a:off x="4429125" y="1504950"/>
            <a:ext cx="3333750" cy="3333750"/>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36a5e97510a34cab"/>
          <a:stretch xmlns:a="http://schemas.openxmlformats.org/drawingml/2006/main"/>
        </p:blipFill>
        <p:spPr>
          <a:xfrm xmlns:a="http://schemas.openxmlformats.org/drawingml/2006/main">
            <a:off x="8248650" y="1504950"/>
            <a:ext cx="3333750" cy="3333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68AA736-13E9-4CF7-A9E2-EE095C614613}"/>
              </a:ext>
            </a:extLst>
          </p:cNvPr>
          <p:cNvSpPr>
            <a:spLocks xmlns:a="http://schemas.openxmlformats.org/drawingml/2006/main" noGrp="1"/>
          </p:cNvSpPr>
          <p:nvPr/>
        </p:nvSpPr>
        <p:spPr>
          <a:xfrm xmlns:a="http://schemas.openxmlformats.org/drawingml/2006/main">
            <a:off x="609600" y="5057775"/>
            <a:ext cx="3381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C30"/>
                </a:solidFill>
                <a:latin typeface="Bitstream Charter"/>
                <a:ea typeface="Bitstream Charter"/>
                <a:cs typeface="Bitstream Charter"/>
              </a:defRPr>
            </a:pPr>
            <a:r>
              <a:rPr sz="2175" b="1">
                <a:solidFill>
                  <a:srgbClr val="173C30"/>
                </a:solidFill>
                <a:latin typeface="Bitstream Charter"/>
                <a:ea typeface="Bitstream Charter"/>
                <a:cs typeface="Bitstream Charter"/>
              </a:rPr>
              <a:t>01–03  Exposure</a:t>
            </a:r>
          </a:p>
        </p:txBody>
      </p:sp>
      <p:sp>
        <p:nvSpPr>
          <p:cNvPr id="6" name="">
            <a:extLst xmlns:a="http://schemas.openxmlformats.org/drawingml/2006/main">
              <a:ext uri="{FF2B5EF4-FFF2-40B4-BE49-F238E27FC236}">
                <a16:creationId xmlns:a16="http://schemas.microsoft.com/office/drawing/2014/main" id="{5A3BDF33-C18F-4FC1-8AA6-1BEEF83E44ED}"/>
              </a:ext>
            </a:extLst>
          </p:cNvPr>
          <p:cNvSpPr>
            <a:spLocks xmlns:a="http://schemas.openxmlformats.org/drawingml/2006/main" noGrp="1"/>
          </p:cNvSpPr>
          <p:nvPr/>
        </p:nvSpPr>
        <p:spPr>
          <a:xfrm xmlns:a="http://schemas.openxmlformats.org/drawingml/2006/main">
            <a:off x="4429125" y="5057775"/>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C30"/>
                </a:solidFill>
                <a:latin typeface="Bitstream Charter"/>
                <a:ea typeface="Bitstream Charter"/>
                <a:cs typeface="Bitstream Charter"/>
              </a:defRPr>
            </a:pPr>
            <a:r>
              <a:rPr sz="2175" b="1">
                <a:solidFill>
                  <a:srgbClr val="173C30"/>
                </a:solidFill>
                <a:latin typeface="Bitstream Charter"/>
                <a:ea typeface="Bitstream Charter"/>
                <a:cs typeface="Bitstream Charter"/>
              </a:rPr>
              <a:t>04  Movement</a:t>
            </a:r>
          </a:p>
        </p:txBody>
      </p:sp>
      <p:sp>
        <p:nvSpPr>
          <p:cNvPr id="7" name="">
            <a:extLst xmlns:a="http://schemas.openxmlformats.org/drawingml/2006/main">
              <a:ext uri="{FF2B5EF4-FFF2-40B4-BE49-F238E27FC236}">
                <a16:creationId xmlns:a16="http://schemas.microsoft.com/office/drawing/2014/main" id="{7E78469B-C670-49D7-8906-95845323601D}"/>
              </a:ext>
            </a:extLst>
          </p:cNvPr>
          <p:cNvSpPr>
            <a:spLocks xmlns:a="http://schemas.openxmlformats.org/drawingml/2006/main" noGrp="1"/>
          </p:cNvSpPr>
          <p:nvPr/>
        </p:nvSpPr>
        <p:spPr>
          <a:xfrm xmlns:a="http://schemas.openxmlformats.org/drawingml/2006/main">
            <a:off x="8248650" y="5057775"/>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C30"/>
                </a:solidFill>
                <a:latin typeface="Bitstream Charter"/>
                <a:ea typeface="Bitstream Charter"/>
                <a:cs typeface="Bitstream Charter"/>
              </a:defRPr>
            </a:pPr>
            <a:r>
              <a:rPr sz="2175" b="1">
                <a:solidFill>
                  <a:srgbClr val="173C30"/>
                </a:solidFill>
                <a:latin typeface="Bitstream Charter"/>
                <a:ea typeface="Bitstream Charter"/>
                <a:cs typeface="Bitstream Charter"/>
              </a:rPr>
              <a:t>05–06  Relief</a:t>
            </a:r>
          </a:p>
        </p:txBody>
      </p:sp>
      <p:sp>
        <p:nvSpPr>
          <p:cNvPr id="8" name="">
            <a:extLst xmlns:a="http://schemas.openxmlformats.org/drawingml/2006/main">
              <a:ext uri="{FF2B5EF4-FFF2-40B4-BE49-F238E27FC236}">
                <a16:creationId xmlns:a16="http://schemas.microsoft.com/office/drawing/2014/main" id="{257756FF-0B73-485F-8ABD-285FEB487E47}"/>
              </a:ext>
            </a:extLst>
          </p:cNvPr>
          <p:cNvSpPr>
            <a:spLocks xmlns:a="http://schemas.openxmlformats.org/drawingml/2006/main" noGrp="1"/>
          </p:cNvSpPr>
          <p:nvPr/>
        </p:nvSpPr>
        <p:spPr>
          <a:xfrm xmlns:a="http://schemas.openxmlformats.org/drawingml/2006/main">
            <a:off x="609600" y="62484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75E"/>
                </a:solidFill>
                <a:latin typeface="Bitstream Charter"/>
                <a:ea typeface="Bitstream Charter"/>
                <a:cs typeface="Bitstream Charter"/>
              </a:defRPr>
            </a:pPr>
            <a:r>
              <a:rPr sz="1275" b="0">
                <a:solidFill>
                  <a:srgbClr val="59675E"/>
                </a:solidFill>
                <a:latin typeface="Bitstream Charter"/>
                <a:ea typeface="Bitstream Charter"/>
                <a:cs typeface="Bitstream Charter"/>
              </a:rPr>
              <a:t>Six shots, approximately five seconds each</a:t>
            </a:r>
          </a:p>
        </p:txBody>
      </p:sp>
    </p:spTree>
    <p:extLst>
      <p:ext uri="{BB962C8B-B14F-4D97-AF65-F5344CB8AC3E}">
        <p14:creationId xmlns:p14="http://schemas.microsoft.com/office/powerpoint/2010/main" val="496407751"/>
      </p:ext>
    </p:extLst>
  </p:cSld>
</p:sld>
</file>

<file path=ppt/slides/slide5.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70EBA51-485A-4AA7-B12C-3539F1C23B08}"/>
              </a:ext>
            </a:extLst>
          </p:cNvPr>
          <p:cNvSpPr>
            <a:spLocks xmlns:a="http://schemas.openxmlformats.org/drawingml/2006/main" noGrp="1"/>
          </p:cNvSpPr>
          <p:nvPr/>
        </p:nvSpPr>
        <p:spPr>
          <a:xfrm xmlns:a="http://schemas.openxmlformats.org/drawingml/2006/main">
            <a:off x="609600" y="42862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C30"/>
                </a:solidFill>
                <a:latin typeface="Bitstream Charter"/>
                <a:ea typeface="Bitstream Charter"/>
                <a:cs typeface="Bitstream Charter"/>
              </a:defRPr>
            </a:pPr>
            <a:r>
              <a:rPr sz="3300" b="1">
                <a:solidFill>
                  <a:srgbClr val="173C30"/>
                </a:solidFill>
                <a:latin typeface="Bitstream Charter"/>
                <a:ea typeface="Bitstream Charter"/>
                <a:cs typeface="Bitstream Charter"/>
              </a:rPr>
              <a:t>The ComfyUI workflow</a:t>
            </a:r>
          </a:p>
        </p:txBody>
      </p:sp>
      <p:sp>
        <p:nvSpPr>
          <p:cNvPr id="2" name="">
            <a:extLst xmlns:a="http://schemas.openxmlformats.org/drawingml/2006/main">
              <a:ext uri="{FF2B5EF4-FFF2-40B4-BE49-F238E27FC236}">
                <a16:creationId xmlns:a16="http://schemas.microsoft.com/office/drawing/2014/main" id="{79FC4B4A-4C89-4EA9-8B24-B65D92739043}"/>
              </a:ext>
            </a:extLst>
          </p:cNvPr>
          <p:cNvSpPr>
            <a:spLocks xmlns:a="http://schemas.openxmlformats.org/drawingml/2006/main" noGrp="1"/>
          </p:cNvSpPr>
          <p:nvPr/>
        </p:nvSpPr>
        <p:spPr>
          <a:xfrm xmlns:a="http://schemas.openxmlformats.org/drawingml/2006/main">
            <a:off x="609600" y="1676400"/>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A95432"/>
                </a:solidFill>
                <a:latin typeface="Bitstream Charter"/>
                <a:ea typeface="Bitstream Charter"/>
                <a:cs typeface="Bitstream Charter"/>
              </a:defRPr>
            </a:pPr>
            <a:r>
              <a:rPr sz="1725" b="1">
                <a:solidFill>
                  <a:srgbClr val="A95432"/>
                </a:solidFill>
                <a:latin typeface="Bitstream Charter"/>
                <a:ea typeface="Bitstream Charter"/>
                <a:cs typeface="Bitstream Charter"/>
              </a:rPr>
              <a:t>INPUT</a:t>
            </a:r>
          </a:p>
        </p:txBody>
      </p:sp>
      <p:sp>
        <p:nvSpPr>
          <p:cNvPr id="3" name="">
            <a:extLst xmlns:a="http://schemas.openxmlformats.org/drawingml/2006/main">
              <a:ext uri="{FF2B5EF4-FFF2-40B4-BE49-F238E27FC236}">
                <a16:creationId xmlns:a16="http://schemas.microsoft.com/office/drawing/2014/main" id="{4CE445A3-502D-44E5-AFD7-6D66C145B576}"/>
              </a:ext>
            </a:extLst>
          </p:cNvPr>
          <p:cNvSpPr>
            <a:spLocks xmlns:a="http://schemas.openxmlformats.org/drawingml/2006/main" noGrp="1"/>
          </p:cNvSpPr>
          <p:nvPr/>
        </p:nvSpPr>
        <p:spPr>
          <a:xfrm xmlns:a="http://schemas.openxmlformats.org/drawingml/2006/main">
            <a:off x="609600" y="2276475"/>
            <a:ext cx="31432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3C30"/>
                </a:solidFill>
                <a:latin typeface="Bitstream Charter"/>
                <a:ea typeface="Bitstream Charter"/>
                <a:cs typeface="Bitstream Charter"/>
              </a:defRPr>
            </a:pPr>
            <a:r>
              <a:rPr sz="2325" b="0">
                <a:solidFill>
                  <a:srgbClr val="173C30"/>
                </a:solidFill>
                <a:latin typeface="Bitstream Charter"/>
                <a:ea typeface="Bitstream Charter"/>
                <a:cs typeface="Bitstream Charter"/>
              </a:rPr>
              <a:t>Starting frame</a:t>
            </a:r>
          </a:p>
          <a:p xmlns:a="http://schemas.openxmlformats.org/drawingml/2006/main">
            <a:pPr>
              <a:defRPr sz="2325" b="0">
                <a:solidFill>
                  <a:srgbClr val="173C30"/>
                </a:solidFill>
                <a:latin typeface="Bitstream Charter"/>
                <a:ea typeface="Bitstream Charter"/>
                <a:cs typeface="Bitstream Charter"/>
              </a:defRPr>
            </a:pPr>
            <a:r>
              <a:rPr sz="2325" b="0">
                <a:solidFill>
                  <a:srgbClr val="173C30"/>
                </a:solidFill>
                <a:latin typeface="Bitstream Charter"/>
                <a:ea typeface="Bitstream Charter"/>
                <a:cs typeface="Bitstream Charter"/>
              </a:rPr>
              <a:t>Motion prompt</a:t>
            </a:r>
          </a:p>
          <a:p xmlns:a="http://schemas.openxmlformats.org/drawingml/2006/main">
            <a:pPr>
              <a:defRPr sz="2325" b="0">
                <a:solidFill>
                  <a:srgbClr val="173C30"/>
                </a:solidFill>
                <a:latin typeface="Bitstream Charter"/>
                <a:ea typeface="Bitstream Charter"/>
                <a:cs typeface="Bitstream Charter"/>
              </a:defRPr>
            </a:pPr>
            <a:r>
              <a:rPr sz="2325" b="0">
                <a:solidFill>
                  <a:srgbClr val="173C30"/>
                </a:solidFill>
                <a:latin typeface="Bitstream Charter"/>
                <a:ea typeface="Bitstream Charter"/>
                <a:cs typeface="Bitstream Charter"/>
              </a:rPr>
              <a:t>Negative prompt</a:t>
            </a:r>
          </a:p>
          <a:p xmlns:a="http://schemas.openxmlformats.org/drawingml/2006/main">
            <a:pPr>
              <a:defRPr sz="2325" b="0">
                <a:solidFill>
                  <a:srgbClr val="173C30"/>
                </a:solidFill>
                <a:latin typeface="Bitstream Charter"/>
                <a:ea typeface="Bitstream Charter"/>
                <a:cs typeface="Bitstream Charter"/>
              </a:defRPr>
            </a:pPr>
            <a:r>
              <a:rPr sz="2325" b="0">
                <a:solidFill>
                  <a:srgbClr val="173C30"/>
                </a:solidFill>
                <a:latin typeface="Bitstream Charter"/>
                <a:ea typeface="Bitstream Charter"/>
                <a:cs typeface="Bitstream Charter"/>
              </a:rPr>
              <a:t>Saved settings</a:t>
            </a:r>
          </a:p>
        </p:txBody>
      </p:sp>
      <p:sp>
        <p:nvSpPr>
          <p:cNvPr id="4" name="">
            <a:extLst xmlns:a="http://schemas.openxmlformats.org/drawingml/2006/main">
              <a:ext uri="{FF2B5EF4-FFF2-40B4-BE49-F238E27FC236}">
                <a16:creationId xmlns:a16="http://schemas.microsoft.com/office/drawing/2014/main" id="{B91B940B-0B8E-4529-91B2-9EAD1977B359}"/>
              </a:ext>
            </a:extLst>
          </p:cNvPr>
          <p:cNvSpPr>
            <a:spLocks xmlns:a="http://schemas.openxmlformats.org/drawingml/2006/main" noGrp="1"/>
          </p:cNvSpPr>
          <p:nvPr/>
        </p:nvSpPr>
        <p:spPr>
          <a:xfrm xmlns:a="http://schemas.openxmlformats.org/drawingml/2006/main">
            <a:off x="4562475" y="1676400"/>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A95432"/>
                </a:solidFill>
                <a:latin typeface="Bitstream Charter"/>
                <a:ea typeface="Bitstream Charter"/>
                <a:cs typeface="Bitstream Charter"/>
              </a:defRPr>
            </a:pPr>
            <a:r>
              <a:rPr sz="1725" b="1">
                <a:solidFill>
                  <a:srgbClr val="A95432"/>
                </a:solidFill>
                <a:latin typeface="Bitstream Charter"/>
                <a:ea typeface="Bitstream Charter"/>
                <a:cs typeface="Bitstream Charter"/>
              </a:rPr>
              <a:t>GENERATION</a:t>
            </a:r>
          </a:p>
        </p:txBody>
      </p:sp>
      <p:sp>
        <p:nvSpPr>
          <p:cNvPr id="5" name="">
            <a:extLst xmlns:a="http://schemas.openxmlformats.org/drawingml/2006/main">
              <a:ext uri="{FF2B5EF4-FFF2-40B4-BE49-F238E27FC236}">
                <a16:creationId xmlns:a16="http://schemas.microsoft.com/office/drawing/2014/main" id="{3737A2EF-8158-42AC-884F-9E56A4AF7DE8}"/>
              </a:ext>
            </a:extLst>
          </p:cNvPr>
          <p:cNvSpPr>
            <a:spLocks xmlns:a="http://schemas.openxmlformats.org/drawingml/2006/main" noGrp="1"/>
          </p:cNvSpPr>
          <p:nvPr/>
        </p:nvSpPr>
        <p:spPr>
          <a:xfrm xmlns:a="http://schemas.openxmlformats.org/drawingml/2006/main">
            <a:off x="4562475" y="2276475"/>
            <a:ext cx="3429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3C30"/>
                </a:solidFill>
                <a:latin typeface="Bitstream Charter"/>
                <a:ea typeface="Bitstream Charter"/>
                <a:cs typeface="Bitstream Charter"/>
              </a:defRPr>
            </a:pPr>
            <a:r>
              <a:rPr sz="2325" b="0">
                <a:solidFill>
                  <a:srgbClr val="173C30"/>
                </a:solidFill>
                <a:latin typeface="Bitstream Charter"/>
                <a:ea typeface="Bitstream Charter"/>
                <a:cs typeface="Bitstream Charter"/>
              </a:rPr>
              <a:t>Wan 2.2 TI2V 5B</a:t>
            </a:r>
          </a:p>
          <a:p xmlns:a="http://schemas.openxmlformats.org/drawingml/2006/main">
            <a:pPr>
              <a:defRPr sz="2325" b="0">
                <a:solidFill>
                  <a:srgbClr val="173C30"/>
                </a:solidFill>
                <a:latin typeface="Bitstream Charter"/>
                <a:ea typeface="Bitstream Charter"/>
                <a:cs typeface="Bitstream Charter"/>
              </a:defRPr>
            </a:pPr>
            <a:r>
              <a:rPr sz="2325" b="0">
                <a:solidFill>
                  <a:srgbClr val="173C30"/>
                </a:solidFill>
                <a:latin typeface="Bitstream Charter"/>
                <a:ea typeface="Bitstream Charter"/>
                <a:cs typeface="Bitstream Charter"/>
              </a:rPr>
              <a:t>KSampler</a:t>
            </a:r>
          </a:p>
          <a:p xmlns:a="http://schemas.openxmlformats.org/drawingml/2006/main">
            <a:pPr>
              <a:defRPr sz="2325" b="0">
                <a:solidFill>
                  <a:srgbClr val="173C30"/>
                </a:solidFill>
                <a:latin typeface="Bitstream Charter"/>
                <a:ea typeface="Bitstream Charter"/>
                <a:cs typeface="Bitstream Charter"/>
              </a:defRPr>
            </a:pPr>
            <a:r>
              <a:rPr sz="2325" b="0">
                <a:solidFill>
                  <a:srgbClr val="173C30"/>
                </a:solidFill>
                <a:latin typeface="Bitstream Charter"/>
                <a:ea typeface="Bitstream Charter"/>
                <a:cs typeface="Bitstream Charter"/>
              </a:rPr>
              <a:t>VAE decoding</a:t>
            </a:r>
          </a:p>
        </p:txBody>
      </p:sp>
      <p:sp>
        <p:nvSpPr>
          <p:cNvPr id="6" name="">
            <a:extLst xmlns:a="http://schemas.openxmlformats.org/drawingml/2006/main">
              <a:ext uri="{FF2B5EF4-FFF2-40B4-BE49-F238E27FC236}">
                <a16:creationId xmlns:a16="http://schemas.microsoft.com/office/drawing/2014/main" id="{6B0092DA-C9F1-4185-B89C-BF0901ED3C49}"/>
              </a:ext>
            </a:extLst>
          </p:cNvPr>
          <p:cNvSpPr>
            <a:spLocks xmlns:a="http://schemas.openxmlformats.org/drawingml/2006/main" noGrp="1"/>
          </p:cNvSpPr>
          <p:nvPr/>
        </p:nvSpPr>
        <p:spPr>
          <a:xfrm xmlns:a="http://schemas.openxmlformats.org/drawingml/2006/main">
            <a:off x="8820150" y="1676400"/>
            <a:ext cx="276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A95432"/>
                </a:solidFill>
                <a:latin typeface="Bitstream Charter"/>
                <a:ea typeface="Bitstream Charter"/>
                <a:cs typeface="Bitstream Charter"/>
              </a:defRPr>
            </a:pPr>
            <a:r>
              <a:rPr sz="1725" b="1">
                <a:solidFill>
                  <a:srgbClr val="A95432"/>
                </a:solidFill>
                <a:latin typeface="Bitstream Charter"/>
                <a:ea typeface="Bitstream Charter"/>
                <a:cs typeface="Bitstream Charter"/>
              </a:rPr>
              <a:t>OUTPUT</a:t>
            </a:r>
          </a:p>
        </p:txBody>
      </p:sp>
      <p:sp>
        <p:nvSpPr>
          <p:cNvPr id="7" name="">
            <a:extLst xmlns:a="http://schemas.openxmlformats.org/drawingml/2006/main">
              <a:ext uri="{FF2B5EF4-FFF2-40B4-BE49-F238E27FC236}">
                <a16:creationId xmlns:a16="http://schemas.microsoft.com/office/drawing/2014/main" id="{BF9B4BDC-D74F-41E8-B955-63C7668628DD}"/>
              </a:ext>
            </a:extLst>
          </p:cNvPr>
          <p:cNvSpPr>
            <a:spLocks xmlns:a="http://schemas.openxmlformats.org/drawingml/2006/main" noGrp="1"/>
          </p:cNvSpPr>
          <p:nvPr/>
        </p:nvSpPr>
        <p:spPr>
          <a:xfrm xmlns:a="http://schemas.openxmlformats.org/drawingml/2006/main">
            <a:off x="8820150" y="2276475"/>
            <a:ext cx="27622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3C30"/>
                </a:solidFill>
                <a:latin typeface="Bitstream Charter"/>
                <a:ea typeface="Bitstream Charter"/>
                <a:cs typeface="Bitstream Charter"/>
              </a:defRPr>
            </a:pPr>
            <a:r>
              <a:rPr sz="2325" b="0">
                <a:solidFill>
                  <a:srgbClr val="173C30"/>
                </a:solidFill>
                <a:latin typeface="Bitstream Charter"/>
                <a:ea typeface="Bitstream Charter"/>
                <a:cs typeface="Bitstream Charter"/>
              </a:rPr>
              <a:t>Animated clip</a:t>
            </a:r>
          </a:p>
          <a:p xmlns:a="http://schemas.openxmlformats.org/drawingml/2006/main">
            <a:pPr>
              <a:defRPr sz="2325" b="0">
                <a:solidFill>
                  <a:srgbClr val="173C30"/>
                </a:solidFill>
                <a:latin typeface="Bitstream Charter"/>
                <a:ea typeface="Bitstream Charter"/>
                <a:cs typeface="Bitstream Charter"/>
              </a:defRPr>
            </a:pPr>
            <a:r>
              <a:rPr sz="2325" b="0">
                <a:solidFill>
                  <a:srgbClr val="173C30"/>
                </a:solidFill>
                <a:latin typeface="Bitstream Charter"/>
                <a:ea typeface="Bitstream Charter"/>
                <a:cs typeface="Bitstream Charter"/>
              </a:rPr>
              <a:t>Film editing</a:t>
            </a:r>
          </a:p>
          <a:p xmlns:a="http://schemas.openxmlformats.org/drawingml/2006/main">
            <a:pPr>
              <a:defRPr sz="2325" b="0">
                <a:solidFill>
                  <a:srgbClr val="173C30"/>
                </a:solidFill>
                <a:latin typeface="Bitstream Charter"/>
                <a:ea typeface="Bitstream Charter"/>
                <a:cs typeface="Bitstream Charter"/>
              </a:defRPr>
            </a:pPr>
            <a:r>
              <a:rPr sz="2325" b="0">
                <a:solidFill>
                  <a:srgbClr val="173C30"/>
                </a:solidFill>
                <a:latin typeface="Bitstream Charter"/>
                <a:ea typeface="Bitstream Charter"/>
                <a:cs typeface="Bitstream Charter"/>
              </a:rPr>
              <a:t>Final MP4</a:t>
            </a:r>
          </a:p>
        </p:txBody>
      </p:sp>
      <p:sp>
        <p:nvSpPr>
          <p:cNvPr id="8" name="">
            <a:extLst xmlns:a="http://schemas.openxmlformats.org/drawingml/2006/main">
              <a:ext uri="{FF2B5EF4-FFF2-40B4-BE49-F238E27FC236}">
                <a16:creationId xmlns:a16="http://schemas.microsoft.com/office/drawing/2014/main" id="{3616DAEB-00D9-497B-891B-9CD0D3FF7FEF}"/>
              </a:ext>
            </a:extLst>
          </p:cNvPr>
          <p:cNvSpPr>
            <a:spLocks xmlns:a="http://schemas.openxmlformats.org/drawingml/2006/main" noGrp="1"/>
          </p:cNvSpPr>
          <p:nvPr/>
        </p:nvSpPr>
        <p:spPr>
          <a:xfrm xmlns:a="http://schemas.openxmlformats.org/drawingml/2006/main">
            <a:off x="609600" y="62484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75E"/>
                </a:solidFill>
                <a:latin typeface="Bitstream Charter"/>
                <a:ea typeface="Bitstream Charter"/>
                <a:cs typeface="Bitstream Charter"/>
              </a:defRPr>
            </a:pPr>
            <a:r>
              <a:rPr sz="1275" b="0">
                <a:solidFill>
                  <a:srgbClr val="59675E"/>
                </a:solidFill>
                <a:latin typeface="Bitstream Charter"/>
                <a:ea typeface="Bitstream Charter"/>
                <a:cs typeface="Bitstream Charter"/>
              </a:rPr>
              <a:t>ComfyUI generates the motion. The editor assembles the six clips.</a:t>
            </a:r>
          </a:p>
        </p:txBody>
      </p:sp>
    </p:spTree>
    <p:extLst>
      <p:ext uri="{BB962C8B-B14F-4D97-AF65-F5344CB8AC3E}">
        <p14:creationId xmlns:p14="http://schemas.microsoft.com/office/powerpoint/2010/main" val="422773890"/>
      </p:ext>
    </p:extLst>
  </p:cSld>
</p:sld>
</file>

<file path=ppt/slides/slide6.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1CEB667-FB3A-4665-BFF9-2386015BAC97}"/>
              </a:ext>
            </a:extLst>
          </p:cNvPr>
          <p:cNvSpPr>
            <a:spLocks xmlns:a="http://schemas.openxmlformats.org/drawingml/2006/main" noGrp="1"/>
          </p:cNvSpPr>
          <p:nvPr/>
        </p:nvSpPr>
        <p:spPr>
          <a:xfrm xmlns:a="http://schemas.openxmlformats.org/drawingml/2006/main">
            <a:off x="609600" y="42862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C30"/>
                </a:solidFill>
                <a:latin typeface="Bitstream Charter"/>
                <a:ea typeface="Bitstream Charter"/>
                <a:cs typeface="Bitstream Charter"/>
              </a:defRPr>
            </a:pPr>
            <a:r>
              <a:rPr sz="3300" b="1">
                <a:solidFill>
                  <a:srgbClr val="173C30"/>
                </a:solidFill>
                <a:latin typeface="Bitstream Charter"/>
                <a:ea typeface="Bitstream Charter"/>
                <a:cs typeface="Bitstream Charter"/>
              </a:rPr>
              <a:t>What we learned</a:t>
            </a:r>
          </a:p>
        </p:txBody>
      </p:sp>
      <p:sp>
        <p:nvSpPr>
          <p:cNvPr id="2" name="">
            <a:extLst xmlns:a="http://schemas.openxmlformats.org/drawingml/2006/main">
              <a:ext uri="{FF2B5EF4-FFF2-40B4-BE49-F238E27FC236}">
                <a16:creationId xmlns:a16="http://schemas.microsoft.com/office/drawing/2014/main" id="{339D1B67-F9E4-43A8-BB2F-70CF677F04BF}"/>
              </a:ext>
            </a:extLst>
          </p:cNvPr>
          <p:cNvSpPr>
            <a:spLocks xmlns:a="http://schemas.openxmlformats.org/drawingml/2006/main" noGrp="1"/>
          </p:cNvSpPr>
          <p:nvPr/>
        </p:nvSpPr>
        <p:spPr>
          <a:xfrm xmlns:a="http://schemas.openxmlformats.org/drawingml/2006/main">
            <a:off x="609600" y="16954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C30"/>
                </a:solidFill>
                <a:latin typeface="Bitstream Charter"/>
                <a:ea typeface="Bitstream Charter"/>
                <a:cs typeface="Bitstream Charter"/>
              </a:defRPr>
            </a:pPr>
            <a:r>
              <a:rPr sz="2550" b="1">
                <a:solidFill>
                  <a:srgbClr val="173C30"/>
                </a:solidFill>
                <a:latin typeface="Bitstream Charter"/>
                <a:ea typeface="Bitstream Charter"/>
                <a:cs typeface="Bitstream Charter"/>
              </a:rPr>
              <a:t>Specific actions made motion clearer</a:t>
            </a:r>
          </a:p>
        </p:txBody>
      </p:sp>
      <p:sp>
        <p:nvSpPr>
          <p:cNvPr id="3" name="">
            <a:extLst xmlns:a="http://schemas.openxmlformats.org/drawingml/2006/main">
              <a:ext uri="{FF2B5EF4-FFF2-40B4-BE49-F238E27FC236}">
                <a16:creationId xmlns:a16="http://schemas.microsoft.com/office/drawing/2014/main" id="{C7BACF01-86AE-451E-8F78-3E02F5A2F9AA}"/>
              </a:ext>
            </a:extLst>
          </p:cNvPr>
          <p:cNvSpPr>
            <a:spLocks xmlns:a="http://schemas.openxmlformats.org/drawingml/2006/main" noGrp="1"/>
          </p:cNvSpPr>
          <p:nvPr/>
        </p:nvSpPr>
        <p:spPr>
          <a:xfrm xmlns:a="http://schemas.openxmlformats.org/drawingml/2006/main">
            <a:off x="609600" y="2333625"/>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C30"/>
                </a:solidFill>
                <a:latin typeface="Bitstream Charter"/>
                <a:ea typeface="Bitstream Charter"/>
                <a:cs typeface="Bitstream Charter"/>
              </a:defRPr>
            </a:pPr>
            <a:r>
              <a:rPr sz="2025" b="0">
                <a:solidFill>
                  <a:srgbClr val="173C30"/>
                </a:solidFill>
                <a:latin typeface="Bitstream Charter"/>
                <a:ea typeface="Bitstream Charter"/>
                <a:cs typeface="Bitstream Charter"/>
              </a:rPr>
              <a:t>“Take alternating steps” gave the model a more concrete task than “walk naturally”.</a:t>
            </a:r>
          </a:p>
        </p:txBody>
      </p:sp>
      <p:sp>
        <p:nvSpPr>
          <p:cNvPr id="4" name="">
            <a:extLst xmlns:a="http://schemas.openxmlformats.org/drawingml/2006/main">
              <a:ext uri="{FF2B5EF4-FFF2-40B4-BE49-F238E27FC236}">
                <a16:creationId xmlns:a16="http://schemas.microsoft.com/office/drawing/2014/main" id="{97DC98B6-1277-4E2D-8468-8FF4179BEF48}"/>
              </a:ext>
            </a:extLst>
          </p:cNvPr>
          <p:cNvSpPr>
            <a:spLocks xmlns:a="http://schemas.openxmlformats.org/drawingml/2006/main" noGrp="1"/>
          </p:cNvSpPr>
          <p:nvPr/>
        </p:nvSpPr>
        <p:spPr>
          <a:xfrm xmlns:a="http://schemas.openxmlformats.org/drawingml/2006/main">
            <a:off x="609600" y="338137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C30"/>
                </a:solidFill>
                <a:latin typeface="Bitstream Charter"/>
                <a:ea typeface="Bitstream Charter"/>
                <a:cs typeface="Bitstream Charter"/>
              </a:defRPr>
            </a:pPr>
            <a:r>
              <a:rPr sz="2550" b="1">
                <a:solidFill>
                  <a:srgbClr val="173C30"/>
                </a:solidFill>
                <a:latin typeface="Bitstream Charter"/>
                <a:ea typeface="Bitstream Charter"/>
                <a:cs typeface="Bitstream Charter"/>
              </a:rPr>
              <a:t>Stable inputs helped character continuity</a:t>
            </a:r>
          </a:p>
        </p:txBody>
      </p:sp>
      <p:sp>
        <p:nvSpPr>
          <p:cNvPr id="5" name="">
            <a:extLst xmlns:a="http://schemas.openxmlformats.org/drawingml/2006/main">
              <a:ext uri="{FF2B5EF4-FFF2-40B4-BE49-F238E27FC236}">
                <a16:creationId xmlns:a16="http://schemas.microsoft.com/office/drawing/2014/main" id="{EEBB250A-9098-4A89-A355-25CC12112B7B}"/>
              </a:ext>
            </a:extLst>
          </p:cNvPr>
          <p:cNvSpPr>
            <a:spLocks xmlns:a="http://schemas.openxmlformats.org/drawingml/2006/main" noGrp="1"/>
          </p:cNvSpPr>
          <p:nvPr/>
        </p:nvSpPr>
        <p:spPr>
          <a:xfrm xmlns:a="http://schemas.openxmlformats.org/drawingml/2006/main">
            <a:off x="609600" y="401955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C30"/>
                </a:solidFill>
                <a:latin typeface="Bitstream Charter"/>
                <a:ea typeface="Bitstream Charter"/>
                <a:cs typeface="Bitstream Charter"/>
              </a:defRPr>
            </a:pPr>
            <a:r>
              <a:rPr sz="2025" b="0">
                <a:solidFill>
                  <a:srgbClr val="173C30"/>
                </a:solidFill>
                <a:latin typeface="Bitstream Charter"/>
                <a:ea typeface="Bitstream Charter"/>
                <a:cs typeface="Bitstream Charter"/>
              </a:rPr>
              <a:t>Hair, clothing and composition needed to stay consistent across shots.</a:t>
            </a:r>
          </a:p>
        </p:txBody>
      </p:sp>
      <p:sp>
        <p:nvSpPr>
          <p:cNvPr id="6" name="">
            <a:extLst xmlns:a="http://schemas.openxmlformats.org/drawingml/2006/main">
              <a:ext uri="{FF2B5EF4-FFF2-40B4-BE49-F238E27FC236}">
                <a16:creationId xmlns:a16="http://schemas.microsoft.com/office/drawing/2014/main" id="{01A017A0-794D-490A-A921-EEF21D128B8C}"/>
              </a:ext>
            </a:extLst>
          </p:cNvPr>
          <p:cNvSpPr>
            <a:spLocks xmlns:a="http://schemas.openxmlformats.org/drawingml/2006/main" noGrp="1"/>
          </p:cNvSpPr>
          <p:nvPr/>
        </p:nvSpPr>
        <p:spPr>
          <a:xfrm xmlns:a="http://schemas.openxmlformats.org/drawingml/2006/main">
            <a:off x="609600" y="49911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C30"/>
                </a:solidFill>
                <a:latin typeface="Bitstream Charter"/>
                <a:ea typeface="Bitstream Charter"/>
                <a:cs typeface="Bitstream Charter"/>
              </a:defRPr>
            </a:pPr>
            <a:r>
              <a:rPr sz="2550" b="1">
                <a:solidFill>
                  <a:srgbClr val="173C30"/>
                </a:solidFill>
                <a:latin typeface="Bitstream Charter"/>
                <a:ea typeface="Bitstream Charter"/>
                <a:cs typeface="Bitstream Charter"/>
              </a:rPr>
              <a:t>Longer renders did not guarantee better results</a:t>
            </a:r>
          </a:p>
        </p:txBody>
      </p:sp>
      <p:sp>
        <p:nvSpPr>
          <p:cNvPr id="7" name="">
            <a:extLst xmlns:a="http://schemas.openxmlformats.org/drawingml/2006/main">
              <a:ext uri="{FF2B5EF4-FFF2-40B4-BE49-F238E27FC236}">
                <a16:creationId xmlns:a16="http://schemas.microsoft.com/office/drawing/2014/main" id="{EF34E562-C26C-4230-956C-3F80765CA0B1}"/>
              </a:ext>
            </a:extLst>
          </p:cNvPr>
          <p:cNvSpPr>
            <a:spLocks xmlns:a="http://schemas.openxmlformats.org/drawingml/2006/main" noGrp="1"/>
          </p:cNvSpPr>
          <p:nvPr/>
        </p:nvSpPr>
        <p:spPr>
          <a:xfrm xmlns:a="http://schemas.openxmlformats.org/drawingml/2006/main">
            <a:off x="609600" y="56197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C30"/>
                </a:solidFill>
                <a:latin typeface="Bitstream Charter"/>
                <a:ea typeface="Bitstream Charter"/>
                <a:cs typeface="Bitstream Charter"/>
              </a:defRPr>
            </a:pPr>
            <a:r>
              <a:rPr sz="2025" b="0">
                <a:solidFill>
                  <a:srgbClr val="173C30"/>
                </a:solidFill>
                <a:latin typeface="Bitstream Charter"/>
                <a:ea typeface="Bitstream Charter"/>
                <a:cs typeface="Bitstream Charter"/>
              </a:rPr>
              <a:t>We still needed to inspect blur, faces, movement and distorted textures.</a:t>
            </a:r>
          </a:p>
        </p:txBody>
      </p:sp>
    </p:spTree>
    <p:extLst>
      <p:ext uri="{BB962C8B-B14F-4D97-AF65-F5344CB8AC3E}">
        <p14:creationId xmlns:p14="http://schemas.microsoft.com/office/powerpoint/2010/main" val="999614077"/>
      </p:ext>
    </p:extLst>
  </p:cSld>
</p:sld>
</file>

<file path=ppt/slides/slide7.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53D68E8-96B3-4D89-A792-1EF3A754A5BF}"/>
              </a:ext>
            </a:extLst>
          </p:cNvPr>
          <p:cNvSpPr>
            <a:spLocks xmlns:a="http://schemas.openxmlformats.org/drawingml/2006/main" noGrp="1"/>
          </p:cNvSpPr>
          <p:nvPr/>
        </p:nvSpPr>
        <p:spPr>
          <a:xfrm xmlns:a="http://schemas.openxmlformats.org/drawingml/2006/main">
            <a:off x="609600" y="42862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C30"/>
                </a:solidFill>
                <a:latin typeface="Bitstream Charter"/>
                <a:ea typeface="Bitstream Charter"/>
                <a:cs typeface="Bitstream Charter"/>
              </a:defRPr>
            </a:pPr>
            <a:r>
              <a:rPr sz="3300" b="1">
                <a:solidFill>
                  <a:srgbClr val="173C30"/>
                </a:solidFill>
                <a:latin typeface="Bitstream Charter"/>
                <a:ea typeface="Bitstream Charter"/>
                <a:cs typeface="Bitstream Charter"/>
              </a:rPr>
              <a:t>Ethical choices and remaining work</a:t>
            </a:r>
          </a:p>
        </p:txBody>
      </p:sp>
      <p:sp>
        <p:nvSpPr>
          <p:cNvPr id="2" name="">
            <a:extLst xmlns:a="http://schemas.openxmlformats.org/drawingml/2006/main">
              <a:ext uri="{FF2B5EF4-FFF2-40B4-BE49-F238E27FC236}">
                <a16:creationId xmlns:a16="http://schemas.microsoft.com/office/drawing/2014/main" id="{A97E340C-E20C-4E97-A311-D44CD552D310}"/>
              </a:ext>
            </a:extLst>
          </p:cNvPr>
          <p:cNvSpPr>
            <a:spLocks xmlns:a="http://schemas.openxmlformats.org/drawingml/2006/main" noGrp="1"/>
          </p:cNvSpPr>
          <p:nvPr/>
        </p:nvSpPr>
        <p:spPr>
          <a:xfrm xmlns:a="http://schemas.openxmlformats.org/drawingml/2006/main">
            <a:off x="609600" y="16192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C30"/>
                </a:solidFill>
                <a:latin typeface="Bitstream Charter"/>
                <a:ea typeface="Bitstream Charter"/>
                <a:cs typeface="Bitstream Charter"/>
              </a:defRPr>
            </a:pPr>
            <a:r>
              <a:rPr sz="2550" b="1">
                <a:solidFill>
                  <a:srgbClr val="173C30"/>
                </a:solidFill>
                <a:latin typeface="Bitstream Charter"/>
                <a:ea typeface="Bitstream Charter"/>
                <a:cs typeface="Bitstream Charter"/>
              </a:rPr>
              <a:t>Risk: realistic fiction can look like evidence</a:t>
            </a:r>
          </a:p>
        </p:txBody>
      </p:sp>
      <p:sp>
        <p:nvSpPr>
          <p:cNvPr id="3" name="">
            <a:extLst xmlns:a="http://schemas.openxmlformats.org/drawingml/2006/main">
              <a:ext uri="{FF2B5EF4-FFF2-40B4-BE49-F238E27FC236}">
                <a16:creationId xmlns:a16="http://schemas.microsoft.com/office/drawing/2014/main" id="{23C855C7-513C-4A52-A878-6EC289F43DBF}"/>
              </a:ext>
            </a:extLst>
          </p:cNvPr>
          <p:cNvSpPr>
            <a:spLocks xmlns:a="http://schemas.openxmlformats.org/drawingml/2006/main" noGrp="1"/>
          </p:cNvSpPr>
          <p:nvPr/>
        </p:nvSpPr>
        <p:spPr>
          <a:xfrm xmlns:a="http://schemas.openxmlformats.org/drawingml/2006/main">
            <a:off x="609600" y="23050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C30"/>
                </a:solidFill>
                <a:latin typeface="Bitstream Charter"/>
                <a:ea typeface="Bitstream Charter"/>
                <a:cs typeface="Bitstream Charter"/>
              </a:defRPr>
            </a:pPr>
            <a:r>
              <a:rPr sz="2100" b="0">
                <a:solidFill>
                  <a:srgbClr val="173C30"/>
                </a:solidFill>
                <a:latin typeface="Bitstream Charter"/>
                <a:ea typeface="Bitstream Charter"/>
                <a:cs typeface="Bitstream Charter"/>
              </a:rPr>
              <a:t>Our story avoids named locations and measured temperature claims.</a:t>
            </a:r>
          </a:p>
        </p:txBody>
      </p:sp>
      <p:sp>
        <p:nvSpPr>
          <p:cNvPr id="4" name="">
            <a:extLst xmlns:a="http://schemas.openxmlformats.org/drawingml/2006/main">
              <a:ext uri="{FF2B5EF4-FFF2-40B4-BE49-F238E27FC236}">
                <a16:creationId xmlns:a16="http://schemas.microsoft.com/office/drawing/2014/main" id="{1EEF55E1-96C8-419D-BE0A-EBFDAD35AB2B}"/>
              </a:ext>
            </a:extLst>
          </p:cNvPr>
          <p:cNvSpPr>
            <a:spLocks xmlns:a="http://schemas.openxmlformats.org/drawingml/2006/main" noGrp="1"/>
          </p:cNvSpPr>
          <p:nvPr/>
        </p:nvSpPr>
        <p:spPr>
          <a:xfrm xmlns:a="http://schemas.openxmlformats.org/drawingml/2006/main">
            <a:off x="609600" y="34099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A95432"/>
                </a:solidFill>
                <a:latin typeface="Bitstream Charter"/>
                <a:ea typeface="Bitstream Charter"/>
                <a:cs typeface="Bitstream Charter"/>
              </a:defRPr>
            </a:pPr>
            <a:r>
              <a:rPr sz="2250" b="1">
                <a:solidFill>
                  <a:srgbClr val="A95432"/>
                </a:solidFill>
                <a:latin typeface="Bitstream Charter"/>
                <a:ea typeface="Bitstream Charter"/>
                <a:cs typeface="Bitstream Charter"/>
              </a:rPr>
              <a:t>Remaining safeguard</a:t>
            </a:r>
          </a:p>
        </p:txBody>
      </p:sp>
      <p:sp>
        <p:nvSpPr>
          <p:cNvPr id="5" name="">
            <a:extLst xmlns:a="http://schemas.openxmlformats.org/drawingml/2006/main">
              <a:ext uri="{FF2B5EF4-FFF2-40B4-BE49-F238E27FC236}">
                <a16:creationId xmlns:a16="http://schemas.microsoft.com/office/drawing/2014/main" id="{22629CAC-D8A5-4CF0-8AAB-19777DBE0F61}"/>
              </a:ext>
            </a:extLst>
          </p:cNvPr>
          <p:cNvSpPr>
            <a:spLocks xmlns:a="http://schemas.openxmlformats.org/drawingml/2006/main" noGrp="1"/>
          </p:cNvSpPr>
          <p:nvPr/>
        </p:nvSpPr>
        <p:spPr>
          <a:xfrm xmlns:a="http://schemas.openxmlformats.org/drawingml/2006/main">
            <a:off x="609600" y="40195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C30"/>
                </a:solidFill>
                <a:latin typeface="Bitstream Charter"/>
                <a:ea typeface="Bitstream Charter"/>
                <a:cs typeface="Bitstream Charter"/>
              </a:defRPr>
            </a:pPr>
            <a:r>
              <a:rPr sz="2100" b="0">
                <a:solidFill>
                  <a:srgbClr val="173C30"/>
                </a:solidFill>
                <a:latin typeface="Bitstream Charter"/>
                <a:ea typeface="Bitstream Charter"/>
                <a:cs typeface="Bitstream Charter"/>
              </a:rPr>
              <a:t>A readable AI disclosure inside the film, plus matching captions.</a:t>
            </a:r>
          </a:p>
        </p:txBody>
      </p:sp>
      <p:sp>
        <p:nvSpPr>
          <p:cNvPr id="6" name="">
            <a:extLst xmlns:a="http://schemas.openxmlformats.org/drawingml/2006/main">
              <a:ext uri="{FF2B5EF4-FFF2-40B4-BE49-F238E27FC236}">
                <a16:creationId xmlns:a16="http://schemas.microsoft.com/office/drawing/2014/main" id="{AE0B3AC8-1189-4EDE-9448-030E72F596CE}"/>
              </a:ext>
            </a:extLst>
          </p:cNvPr>
          <p:cNvSpPr>
            <a:spLocks xmlns:a="http://schemas.openxmlformats.org/drawingml/2006/main" noGrp="1"/>
          </p:cNvSpPr>
          <p:nvPr/>
        </p:nvSpPr>
        <p:spPr>
          <a:xfrm xmlns:a="http://schemas.openxmlformats.org/drawingml/2006/main">
            <a:off x="609600" y="50958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A95432"/>
                </a:solidFill>
                <a:latin typeface="Bitstream Charter"/>
                <a:ea typeface="Bitstream Charter"/>
                <a:cs typeface="Bitstream Charter"/>
              </a:defRPr>
            </a:pPr>
            <a:r>
              <a:rPr sz="2250" b="1">
                <a:solidFill>
                  <a:srgbClr val="A95432"/>
                </a:solidFill>
                <a:latin typeface="Bitstream Charter"/>
                <a:ea typeface="Bitstream Charter"/>
                <a:cs typeface="Bitstream Charter"/>
              </a:rPr>
              <a:t>Computing cost</a:t>
            </a:r>
          </a:p>
        </p:txBody>
      </p:sp>
      <p:sp>
        <p:nvSpPr>
          <p:cNvPr id="7" name="">
            <a:extLst xmlns:a="http://schemas.openxmlformats.org/drawingml/2006/main">
              <a:ext uri="{FF2B5EF4-FFF2-40B4-BE49-F238E27FC236}">
                <a16:creationId xmlns:a16="http://schemas.microsoft.com/office/drawing/2014/main" id="{C5A14A72-D4D8-4106-9365-23554D5CB35B}"/>
              </a:ext>
            </a:extLst>
          </p:cNvPr>
          <p:cNvSpPr>
            <a:spLocks xmlns:a="http://schemas.openxmlformats.org/drawingml/2006/main" noGrp="1"/>
          </p:cNvSpPr>
          <p:nvPr/>
        </p:nvSpPr>
        <p:spPr>
          <a:xfrm xmlns:a="http://schemas.openxmlformats.org/drawingml/2006/main">
            <a:off x="609600" y="56388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C30"/>
                </a:solidFill>
                <a:latin typeface="Bitstream Charter"/>
                <a:ea typeface="Bitstream Charter"/>
                <a:cs typeface="Bitstream Charter"/>
              </a:defRPr>
            </a:pPr>
            <a:r>
              <a:rPr sz="1950" b="0">
                <a:solidFill>
                  <a:srgbClr val="173C30"/>
                </a:solidFill>
                <a:latin typeface="Bitstream Charter"/>
                <a:ea typeface="Bitstream Charter"/>
                <a:cs typeface="Bitstream Charter"/>
              </a:rPr>
              <a:t>Repeated renders used GPU time. Energy use and total generations remain unmeasured.</a:t>
            </a:r>
          </a:p>
        </p:txBody>
      </p:sp>
    </p:spTree>
    <p:extLst>
      <p:ext uri="{BB962C8B-B14F-4D97-AF65-F5344CB8AC3E}">
        <p14:creationId xmlns:p14="http://schemas.microsoft.com/office/powerpoint/2010/main" val="560141575"/>
      </p:ext>
    </p:extLst>
  </p:cSld>
</p:sld>
</file>

<file path=ppt/slides/slide8.xml><?xml version="1.0" encoding="utf-8"?>
<p:sld xmlns:p="http://schemas.openxmlformats.org/presentationml/2006/main">
  <p:cSld>
    <p:bg>
      <p:bgPr>
        <a:solidFill xmlns:a="http://schemas.openxmlformats.org/drawingml/2006/main">
          <a:srgbClr val="173C3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8E166D0-ED25-4C64-90F8-BB0B26DA4DC2}"/>
              </a:ext>
            </a:extLst>
          </p:cNvPr>
          <p:cNvSpPr>
            <a:spLocks xmlns:a="http://schemas.openxmlformats.org/drawingml/2006/main" noGrp="1"/>
          </p:cNvSpPr>
          <p:nvPr/>
        </p:nvSpPr>
        <p:spPr>
          <a:xfrm xmlns:a="http://schemas.openxmlformats.org/drawingml/2006/main">
            <a:off x="609600" y="42862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FFFFF"/>
                </a:solidFill>
                <a:latin typeface="Bitstream Charter"/>
                <a:ea typeface="Bitstream Charter"/>
                <a:cs typeface="Bitstream Charter"/>
              </a:defRPr>
            </a:pPr>
            <a:r>
              <a:rPr sz="3300" b="1">
                <a:solidFill>
                  <a:srgbClr val="FFFFFF"/>
                </a:solidFill>
                <a:latin typeface="Bitstream Charter"/>
                <a:ea typeface="Bitstream Charter"/>
                <a:cs typeface="Bitstream Charter"/>
              </a:rPr>
              <a:t>Climate awareness and next steps</a:t>
            </a:r>
          </a:p>
        </p:txBody>
      </p:sp>
      <p:sp>
        <p:nvSpPr>
          <p:cNvPr id="2" name="">
            <a:extLst xmlns:a="http://schemas.openxmlformats.org/drawingml/2006/main">
              <a:ext uri="{FF2B5EF4-FFF2-40B4-BE49-F238E27FC236}">
                <a16:creationId xmlns:a16="http://schemas.microsoft.com/office/drawing/2014/main" id="{526C5571-6938-44C4-B200-B4787A0EEEC6}"/>
              </a:ext>
            </a:extLst>
          </p:cNvPr>
          <p:cNvSpPr>
            <a:spLocks xmlns:a="http://schemas.openxmlformats.org/drawingml/2006/main" noGrp="1"/>
          </p:cNvSpPr>
          <p:nvPr/>
        </p:nvSpPr>
        <p:spPr>
          <a:xfrm xmlns:a="http://schemas.openxmlformats.org/drawingml/2006/main">
            <a:off x="609600" y="1657350"/>
            <a:ext cx="10763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FFF"/>
                </a:solidFill>
                <a:latin typeface="Bitstream Charter"/>
                <a:ea typeface="Bitstream Charter"/>
                <a:cs typeface="Bitstream Charter"/>
              </a:defRPr>
            </a:pPr>
            <a:r>
              <a:rPr sz="3450" b="1">
                <a:solidFill>
                  <a:srgbClr val="FFFFFF"/>
                </a:solidFill>
                <a:latin typeface="Bitstream Charter"/>
                <a:ea typeface="Bitstream Charter"/>
                <a:cs typeface="Bitstream Charter"/>
              </a:rPr>
              <a:t>SDG 13.3</a:t>
            </a:r>
          </a:p>
          <a:p xmlns:a="http://schemas.openxmlformats.org/drawingml/2006/main">
            <a:pPr>
              <a:defRPr sz="3450" b="1">
                <a:solidFill>
                  <a:srgbClr val="FFFFFF"/>
                </a:solidFill>
                <a:latin typeface="Bitstream Charter"/>
                <a:ea typeface="Bitstream Charter"/>
                <a:cs typeface="Bitstream Charter"/>
              </a:defRPr>
            </a:pPr>
            <a:r>
              <a:rPr sz="3450" b="1">
                <a:solidFill>
                  <a:srgbClr val="FFFFFF"/>
                </a:solidFill>
                <a:latin typeface="Bitstream Charter"/>
                <a:ea typeface="Bitstream Charter"/>
                <a:cs typeface="Bitstream Charter"/>
              </a:rPr>
              <a:t>Awareness of climate adaptation</a:t>
            </a:r>
          </a:p>
        </p:txBody>
      </p:sp>
      <p:sp>
        <p:nvSpPr>
          <p:cNvPr id="3" name="">
            <a:extLst xmlns:a="http://schemas.openxmlformats.org/drawingml/2006/main">
              <a:ext uri="{FF2B5EF4-FFF2-40B4-BE49-F238E27FC236}">
                <a16:creationId xmlns:a16="http://schemas.microsoft.com/office/drawing/2014/main" id="{BF244C0E-4397-4AF2-874A-65059830114F}"/>
              </a:ext>
            </a:extLst>
          </p:cNvPr>
          <p:cNvSpPr>
            <a:spLocks xmlns:a="http://schemas.openxmlformats.org/drawingml/2006/main" noGrp="1"/>
          </p:cNvSpPr>
          <p:nvPr/>
        </p:nvSpPr>
        <p:spPr>
          <a:xfrm xmlns:a="http://schemas.openxmlformats.org/drawingml/2006/main">
            <a:off x="609600" y="3495675"/>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FFFFFF"/>
                </a:solidFill>
                <a:latin typeface="Bitstream Charter"/>
                <a:ea typeface="Bitstream Charter"/>
                <a:cs typeface="Bitstream Charter"/>
              </a:defRPr>
            </a:pPr>
            <a:r>
              <a:rPr sz="2325" b="0">
                <a:solidFill>
                  <a:srgbClr val="FFFFFF"/>
                </a:solidFill>
                <a:latin typeface="Bitstream Charter"/>
                <a:ea typeface="Bitstream Charter"/>
                <a:cs typeface="Bitstream Charter"/>
              </a:rPr>
              <a:t>Intended message</a:t>
            </a:r>
          </a:p>
          <a:p xmlns:a="http://schemas.openxmlformats.org/drawingml/2006/main">
            <a:pPr>
              <a:defRPr sz="2325" b="0">
                <a:solidFill>
                  <a:srgbClr val="FFFFFF"/>
                </a:solidFill>
                <a:latin typeface="Bitstream Charter"/>
                <a:ea typeface="Bitstream Charter"/>
                <a:cs typeface="Bitstream Charter"/>
              </a:defRPr>
            </a:pPr>
            <a:r>
              <a:rPr sz="2325" b="0">
                <a:solidFill>
                  <a:srgbClr val="FFFFFF"/>
                </a:solidFill>
                <a:latin typeface="Bitstream Charter"/>
                <a:ea typeface="Bitstream Charter"/>
                <a:cs typeface="Bitstream Charter"/>
              </a:rPr>
              <a:t>Greener public spaces can offer relief from urban heat.</a:t>
            </a:r>
          </a:p>
        </p:txBody>
      </p:sp>
      <p:sp>
        <p:nvSpPr>
          <p:cNvPr id="4" name="">
            <a:extLst xmlns:a="http://schemas.openxmlformats.org/drawingml/2006/main">
              <a:ext uri="{FF2B5EF4-FFF2-40B4-BE49-F238E27FC236}">
                <a16:creationId xmlns:a16="http://schemas.microsoft.com/office/drawing/2014/main" id="{D68DC628-7ED8-4873-9D0F-64D517D8A66D}"/>
              </a:ext>
            </a:extLst>
          </p:cNvPr>
          <p:cNvSpPr>
            <a:spLocks xmlns:a="http://schemas.openxmlformats.org/drawingml/2006/main" noGrp="1"/>
          </p:cNvSpPr>
          <p:nvPr/>
        </p:nvSpPr>
        <p:spPr>
          <a:xfrm xmlns:a="http://schemas.openxmlformats.org/drawingml/2006/main">
            <a:off x="609600" y="5038725"/>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1DED1"/>
                </a:solidFill>
                <a:latin typeface="Bitstream Charter"/>
                <a:ea typeface="Bitstream Charter"/>
                <a:cs typeface="Bitstream Charter"/>
              </a:defRPr>
            </a:pPr>
            <a:r>
              <a:rPr sz="2100" b="0">
                <a:solidFill>
                  <a:srgbClr val="D1DED1"/>
                </a:solidFill>
                <a:latin typeface="Bitstream Charter"/>
                <a:ea typeface="Bitstream Charter"/>
                <a:cs typeface="Bitstream Charter"/>
              </a:rPr>
              <a:t>Next test</a:t>
            </a:r>
          </a:p>
          <a:p xmlns:a="http://schemas.openxmlformats.org/drawingml/2006/main">
            <a:pPr>
              <a:defRPr sz="2100" b="0">
                <a:solidFill>
                  <a:srgbClr val="D1DED1"/>
                </a:solidFill>
                <a:latin typeface="Bitstream Charter"/>
                <a:ea typeface="Bitstream Charter"/>
                <a:cs typeface="Bitstream Charter"/>
              </a:defRPr>
            </a:pPr>
            <a:r>
              <a:rPr sz="2100" b="0">
                <a:solidFill>
                  <a:srgbClr val="D1DED1"/>
                </a:solidFill>
                <a:latin typeface="Bitstream Charter"/>
                <a:ea typeface="Bitstream Charter"/>
                <a:cs typeface="Bitstream Charter"/>
              </a:rPr>
              <a:t>Do students understand the message and recognise the imagery as fictional?</a:t>
            </a:r>
          </a:p>
        </p:txBody>
      </p:sp>
    </p:spTree>
    <p:extLst>
      <p:ext uri="{BB962C8B-B14F-4D97-AF65-F5344CB8AC3E}">
        <p14:creationId xmlns:p14="http://schemas.microsoft.com/office/powerpoint/2010/main" val="1654025455"/>
      </p:ext>
    </p:extLst>
  </p:cSld>
</p:sld>
</file>

<file path=ppt/slides/slide9.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25E6CF5-6BB5-4DAB-8462-BCD11A687338}"/>
              </a:ext>
            </a:extLst>
          </p:cNvPr>
          <p:cNvSpPr>
            <a:spLocks xmlns:a="http://schemas.openxmlformats.org/drawingml/2006/main" noGrp="1"/>
          </p:cNvSpPr>
          <p:nvPr/>
        </p:nvSpPr>
        <p:spPr>
          <a:xfrm xmlns:a="http://schemas.openxmlformats.org/drawingml/2006/main">
            <a:off x="609600" y="42862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C30"/>
                </a:solidFill>
                <a:latin typeface="Bitstream Charter"/>
                <a:ea typeface="Bitstream Charter"/>
                <a:cs typeface="Bitstream Charter"/>
              </a:defRPr>
            </a:pPr>
            <a:r>
              <a:rPr sz="3300" b="1">
                <a:solidFill>
                  <a:srgbClr val="173C30"/>
                </a:solidFill>
                <a:latin typeface="Bitstream Charter"/>
                <a:ea typeface="Bitstream Charter"/>
                <a:cs typeface="Bitstream Charter"/>
              </a:rPr>
              <a:t>Sources and questions</a:t>
            </a:r>
          </a:p>
        </p:txBody>
      </p:sp>
      <p:sp>
        <p:nvSpPr>
          <p:cNvPr id="2" name="">
            <a:extLst xmlns:a="http://schemas.openxmlformats.org/drawingml/2006/main">
              <a:ext uri="{FF2B5EF4-FFF2-40B4-BE49-F238E27FC236}">
                <a16:creationId xmlns:a16="http://schemas.microsoft.com/office/drawing/2014/main" id="{090875C2-0005-4F22-A254-13E336B4165F}"/>
              </a:ext>
            </a:extLst>
          </p:cNvPr>
          <p:cNvSpPr>
            <a:spLocks xmlns:a="http://schemas.openxmlformats.org/drawingml/2006/main" noGrp="1"/>
          </p:cNvSpPr>
          <p:nvPr/>
        </p:nvSpPr>
        <p:spPr>
          <a:xfrm xmlns:a="http://schemas.openxmlformats.org/drawingml/2006/main">
            <a:off x="609600" y="1676400"/>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3C30"/>
                </a:solidFill>
                <a:latin typeface="Bitstream Charter"/>
                <a:ea typeface="Bitstream Charter"/>
                <a:cs typeface="Bitstream Charter"/>
              </a:defRPr>
            </a:pPr>
            <a:r>
              <a:rPr sz="2250" b="1">
                <a:solidFill>
                  <a:srgbClr val="173C30"/>
                </a:solidFill>
                <a:latin typeface="Bitstream Charter"/>
                <a:ea typeface="Bitstream Charter"/>
                <a:cs typeface="Bitstream Charter"/>
              </a:rPr>
              <a:t>KNMI</a:t>
            </a:r>
          </a:p>
        </p:txBody>
      </p:sp>
      <p:sp>
        <p:nvSpPr>
          <p:cNvPr id="3" name="">
            <a:extLst xmlns:a="http://schemas.openxmlformats.org/drawingml/2006/main">
              <a:ext uri="{FF2B5EF4-FFF2-40B4-BE49-F238E27FC236}">
                <a16:creationId xmlns:a16="http://schemas.microsoft.com/office/drawing/2014/main" id="{88A46D83-B746-449C-A021-7A25A25275A3}"/>
              </a:ext>
            </a:extLst>
          </p:cNvPr>
          <p:cNvSpPr>
            <a:spLocks xmlns:a="http://schemas.openxmlformats.org/drawingml/2006/main" noGrp="1"/>
          </p:cNvSpPr>
          <p:nvPr/>
        </p:nvSpPr>
        <p:spPr>
          <a:xfrm xmlns:a="http://schemas.openxmlformats.org/drawingml/2006/main">
            <a:off x="3333750" y="1676400"/>
            <a:ext cx="8096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3C30"/>
                </a:solidFill>
                <a:latin typeface="Bitstream Charter"/>
                <a:ea typeface="Bitstream Charter"/>
                <a:cs typeface="Bitstream Charter"/>
              </a:defRPr>
            </a:pPr>
            <a:r>
              <a:rPr sz="1800" b="0">
                <a:solidFill>
                  <a:srgbClr val="173C30"/>
                </a:solidFill>
                <a:latin typeface="Bitstream Charter"/>
                <a:ea typeface="Bitstream Charter"/>
                <a:cs typeface="Bitstream Charter"/>
              </a:rPr>
              <a:t>Stadsklimaat</a:t>
            </a:r>
          </a:p>
          <a:p xmlns:a="http://schemas.openxmlformats.org/drawingml/2006/main">
            <a:pPr>
              <a:defRPr sz="1800" b="0">
                <a:solidFill>
                  <a:srgbClr val="173C30"/>
                </a:solidFill>
                <a:latin typeface="Bitstream Charter"/>
                <a:ea typeface="Bitstream Charter"/>
                <a:cs typeface="Bitstream Charter"/>
              </a:defRPr>
            </a:pPr>
            <a:r>
              <a:rPr sz="1800" b="0">
                <a:solidFill>
                  <a:srgbClr val="173C30"/>
                </a:solidFill>
                <a:latin typeface="Bitstream Charter"/>
                <a:ea typeface="Bitstream Charter"/>
                <a:cs typeface="Bitstream Charter"/>
              </a:rPr>
              <a:t>knmi.nl/kennis-en-datacentrum/uitleg/stadsklimaat</a:t>
            </a:r>
          </a:p>
        </p:txBody>
      </p:sp>
      <p:sp>
        <p:nvSpPr>
          <p:cNvPr id="4" name="">
            <a:extLst xmlns:a="http://schemas.openxmlformats.org/drawingml/2006/main">
              <a:ext uri="{FF2B5EF4-FFF2-40B4-BE49-F238E27FC236}">
                <a16:creationId xmlns:a16="http://schemas.microsoft.com/office/drawing/2014/main" id="{09BE5750-6CCF-4E62-BABD-C600F095A282}"/>
              </a:ext>
            </a:extLst>
          </p:cNvPr>
          <p:cNvSpPr>
            <a:spLocks xmlns:a="http://schemas.openxmlformats.org/drawingml/2006/main" noGrp="1"/>
          </p:cNvSpPr>
          <p:nvPr/>
        </p:nvSpPr>
        <p:spPr>
          <a:xfrm xmlns:a="http://schemas.openxmlformats.org/drawingml/2006/main">
            <a:off x="609600" y="2857500"/>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3C30"/>
                </a:solidFill>
                <a:latin typeface="Bitstream Charter"/>
                <a:ea typeface="Bitstream Charter"/>
                <a:cs typeface="Bitstream Charter"/>
              </a:defRPr>
            </a:pPr>
            <a:r>
              <a:rPr sz="2250" b="1">
                <a:solidFill>
                  <a:srgbClr val="173C30"/>
                </a:solidFill>
                <a:latin typeface="Bitstream Charter"/>
                <a:ea typeface="Bitstream Charter"/>
                <a:cs typeface="Bitstream Charter"/>
              </a:rPr>
              <a:t>US EPA</a:t>
            </a:r>
          </a:p>
        </p:txBody>
      </p:sp>
      <p:sp>
        <p:nvSpPr>
          <p:cNvPr id="5" name="">
            <a:extLst xmlns:a="http://schemas.openxmlformats.org/drawingml/2006/main">
              <a:ext uri="{FF2B5EF4-FFF2-40B4-BE49-F238E27FC236}">
                <a16:creationId xmlns:a16="http://schemas.microsoft.com/office/drawing/2014/main" id="{72D9DC9C-E6F5-4839-81F3-5227762D6588}"/>
              </a:ext>
            </a:extLst>
          </p:cNvPr>
          <p:cNvSpPr>
            <a:spLocks xmlns:a="http://schemas.openxmlformats.org/drawingml/2006/main" noGrp="1"/>
          </p:cNvSpPr>
          <p:nvPr/>
        </p:nvSpPr>
        <p:spPr>
          <a:xfrm xmlns:a="http://schemas.openxmlformats.org/drawingml/2006/main">
            <a:off x="3333750" y="2857500"/>
            <a:ext cx="8096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3C30"/>
                </a:solidFill>
                <a:latin typeface="Bitstream Charter"/>
                <a:ea typeface="Bitstream Charter"/>
                <a:cs typeface="Bitstream Charter"/>
              </a:defRPr>
            </a:pPr>
            <a:r>
              <a:rPr sz="1800" b="0">
                <a:solidFill>
                  <a:srgbClr val="173C30"/>
                </a:solidFill>
                <a:latin typeface="Bitstream Charter"/>
                <a:ea typeface="Bitstream Charter"/>
                <a:cs typeface="Bitstream Charter"/>
              </a:rPr>
              <a:t>Benefits of Trees and Vegetation</a:t>
            </a:r>
          </a:p>
          <a:p xmlns:a="http://schemas.openxmlformats.org/drawingml/2006/main">
            <a:pPr>
              <a:defRPr sz="1800" b="0">
                <a:solidFill>
                  <a:srgbClr val="173C30"/>
                </a:solidFill>
                <a:latin typeface="Bitstream Charter"/>
                <a:ea typeface="Bitstream Charter"/>
                <a:cs typeface="Bitstream Charter"/>
              </a:defRPr>
            </a:pPr>
            <a:r>
              <a:rPr sz="1800" b="0">
                <a:solidFill>
                  <a:srgbClr val="173C30"/>
                </a:solidFill>
                <a:latin typeface="Bitstream Charter"/>
                <a:ea typeface="Bitstream Charter"/>
                <a:cs typeface="Bitstream Charter"/>
              </a:rPr>
              <a:t>epa.gov/heatislands/benefits-trees-and-vegetation</a:t>
            </a:r>
          </a:p>
        </p:txBody>
      </p:sp>
      <p:sp>
        <p:nvSpPr>
          <p:cNvPr id="6" name="">
            <a:extLst xmlns:a="http://schemas.openxmlformats.org/drawingml/2006/main">
              <a:ext uri="{FF2B5EF4-FFF2-40B4-BE49-F238E27FC236}">
                <a16:creationId xmlns:a16="http://schemas.microsoft.com/office/drawing/2014/main" id="{C85979D4-8F82-4514-BD17-A7872F47AE14}"/>
              </a:ext>
            </a:extLst>
          </p:cNvPr>
          <p:cNvSpPr>
            <a:spLocks xmlns:a="http://schemas.openxmlformats.org/drawingml/2006/main" noGrp="1"/>
          </p:cNvSpPr>
          <p:nvPr/>
        </p:nvSpPr>
        <p:spPr>
          <a:xfrm xmlns:a="http://schemas.openxmlformats.org/drawingml/2006/main">
            <a:off x="609600" y="4038600"/>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3C30"/>
                </a:solidFill>
                <a:latin typeface="Bitstream Charter"/>
                <a:ea typeface="Bitstream Charter"/>
                <a:cs typeface="Bitstream Charter"/>
              </a:defRPr>
            </a:pPr>
            <a:r>
              <a:rPr sz="2250" b="1">
                <a:solidFill>
                  <a:srgbClr val="173C30"/>
                </a:solidFill>
                <a:latin typeface="Bitstream Charter"/>
                <a:ea typeface="Bitstream Charter"/>
                <a:cs typeface="Bitstream Charter"/>
              </a:rPr>
              <a:t>United Nations</a:t>
            </a:r>
          </a:p>
        </p:txBody>
      </p:sp>
      <p:sp>
        <p:nvSpPr>
          <p:cNvPr id="7" name="">
            <a:extLst xmlns:a="http://schemas.openxmlformats.org/drawingml/2006/main">
              <a:ext uri="{FF2B5EF4-FFF2-40B4-BE49-F238E27FC236}">
                <a16:creationId xmlns:a16="http://schemas.microsoft.com/office/drawing/2014/main" id="{9E01B301-F93D-43EB-9ECF-233B8983C47E}"/>
              </a:ext>
            </a:extLst>
          </p:cNvPr>
          <p:cNvSpPr>
            <a:spLocks xmlns:a="http://schemas.openxmlformats.org/drawingml/2006/main" noGrp="1"/>
          </p:cNvSpPr>
          <p:nvPr/>
        </p:nvSpPr>
        <p:spPr>
          <a:xfrm xmlns:a="http://schemas.openxmlformats.org/drawingml/2006/main">
            <a:off x="3333750" y="4038600"/>
            <a:ext cx="8096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3C30"/>
                </a:solidFill>
                <a:latin typeface="Bitstream Charter"/>
                <a:ea typeface="Bitstream Charter"/>
                <a:cs typeface="Bitstream Charter"/>
              </a:defRPr>
            </a:pPr>
            <a:r>
              <a:rPr sz="1800" b="0">
                <a:solidFill>
                  <a:srgbClr val="173C30"/>
                </a:solidFill>
                <a:latin typeface="Bitstream Charter"/>
                <a:ea typeface="Bitstream Charter"/>
                <a:cs typeface="Bitstream Charter"/>
              </a:rPr>
              <a:t>Goal 13, target 13.3</a:t>
            </a:r>
          </a:p>
          <a:p xmlns:a="http://schemas.openxmlformats.org/drawingml/2006/main">
            <a:pPr>
              <a:defRPr sz="1800" b="0">
                <a:solidFill>
                  <a:srgbClr val="173C30"/>
                </a:solidFill>
                <a:latin typeface="Bitstream Charter"/>
                <a:ea typeface="Bitstream Charter"/>
                <a:cs typeface="Bitstream Charter"/>
              </a:defRPr>
            </a:pPr>
            <a:r>
              <a:rPr sz="1800" b="0">
                <a:solidFill>
                  <a:srgbClr val="173C30"/>
                </a:solidFill>
                <a:latin typeface="Bitstream Charter"/>
                <a:ea typeface="Bitstream Charter"/>
                <a:cs typeface="Bitstream Charter"/>
              </a:rPr>
              <a:t>sdgs.un.org/goals/goal13</a:t>
            </a:r>
          </a:p>
        </p:txBody>
      </p:sp>
      <p:sp>
        <p:nvSpPr>
          <p:cNvPr id="8" name="">
            <a:extLst xmlns:a="http://schemas.openxmlformats.org/drawingml/2006/main">
              <a:ext uri="{FF2B5EF4-FFF2-40B4-BE49-F238E27FC236}">
                <a16:creationId xmlns:a16="http://schemas.microsoft.com/office/drawing/2014/main" id="{2AF10B0B-5238-4E01-A534-98AB11C7BFFB}"/>
              </a:ext>
            </a:extLst>
          </p:cNvPr>
          <p:cNvSpPr>
            <a:spLocks xmlns:a="http://schemas.openxmlformats.org/drawingml/2006/main" noGrp="1"/>
          </p:cNvSpPr>
          <p:nvPr/>
        </p:nvSpPr>
        <p:spPr>
          <a:xfrm xmlns:a="http://schemas.openxmlformats.org/drawingml/2006/main">
            <a:off x="609600" y="5219700"/>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3C30"/>
                </a:solidFill>
                <a:latin typeface="Bitstream Charter"/>
                <a:ea typeface="Bitstream Charter"/>
                <a:cs typeface="Bitstream Charter"/>
              </a:defRPr>
            </a:pPr>
            <a:r>
              <a:rPr sz="2250" b="1">
                <a:solidFill>
                  <a:srgbClr val="173C30"/>
                </a:solidFill>
                <a:latin typeface="Bitstream Charter"/>
                <a:ea typeface="Bitstream Charter"/>
                <a:cs typeface="Bitstream Charter"/>
              </a:rPr>
              <a:t>ComfyUI</a:t>
            </a:r>
          </a:p>
        </p:txBody>
      </p:sp>
      <p:sp>
        <p:nvSpPr>
          <p:cNvPr id="9" name="">
            <a:extLst xmlns:a="http://schemas.openxmlformats.org/drawingml/2006/main">
              <a:ext uri="{FF2B5EF4-FFF2-40B4-BE49-F238E27FC236}">
                <a16:creationId xmlns:a16="http://schemas.microsoft.com/office/drawing/2014/main" id="{ACC46AC4-C301-4572-B6DC-FC1EB4B644C3}"/>
              </a:ext>
            </a:extLst>
          </p:cNvPr>
          <p:cNvSpPr>
            <a:spLocks xmlns:a="http://schemas.openxmlformats.org/drawingml/2006/main" noGrp="1"/>
          </p:cNvSpPr>
          <p:nvPr/>
        </p:nvSpPr>
        <p:spPr>
          <a:xfrm xmlns:a="http://schemas.openxmlformats.org/drawingml/2006/main">
            <a:off x="3333750" y="5219700"/>
            <a:ext cx="8096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3C30"/>
                </a:solidFill>
                <a:latin typeface="Bitstream Charter"/>
                <a:ea typeface="Bitstream Charter"/>
                <a:cs typeface="Bitstream Charter"/>
              </a:defRPr>
            </a:pPr>
            <a:r>
              <a:rPr sz="1800" b="0">
                <a:solidFill>
                  <a:srgbClr val="173C30"/>
                </a:solidFill>
                <a:latin typeface="Bitstream Charter"/>
                <a:ea typeface="Bitstream Charter"/>
                <a:cs typeface="Bitstream Charter"/>
              </a:rPr>
              <a:t>Wan 2.2 native workflow</a:t>
            </a:r>
          </a:p>
          <a:p xmlns:a="http://schemas.openxmlformats.org/drawingml/2006/main">
            <a:pPr>
              <a:defRPr sz="1800" b="0">
                <a:solidFill>
                  <a:srgbClr val="173C30"/>
                </a:solidFill>
                <a:latin typeface="Bitstream Charter"/>
                <a:ea typeface="Bitstream Charter"/>
                <a:cs typeface="Bitstream Charter"/>
              </a:defRPr>
            </a:pPr>
            <a:r>
              <a:rPr sz="1800" b="0">
                <a:solidFill>
                  <a:srgbClr val="173C30"/>
                </a:solidFill>
                <a:latin typeface="Bitstream Charter"/>
                <a:ea typeface="Bitstream Charter"/>
                <a:cs typeface="Bitstream Charter"/>
              </a:rPr>
              <a:t>docs.comfy.org/tutorials/video/wan/wan2_2</a:t>
            </a:r>
          </a:p>
        </p:txBody>
      </p:sp>
    </p:spTree>
    <p:extLst>
      <p:ext uri="{BB962C8B-B14F-4D97-AF65-F5344CB8AC3E}">
        <p14:creationId xmlns:p14="http://schemas.microsoft.com/office/powerpoint/2010/main" val="35892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2026-10-01T08:59:58.9540000Z</dcterms:created>
  <dcterms:modified xsi:type="dcterms:W3CDTF">2026-10-01T08:59:58.9540000Z</dcterms:modified>
</coreProperties>
</file>