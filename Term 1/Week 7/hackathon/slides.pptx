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0"/>
            <a:ext cx="10515600" cy="1371600"/>
          </a:xfrm>
          <a:prstGeom prst="rect">
            <a:avLst/>
          </a:prstGeom>
          <a:noFill/>
        </p:spPr>
        <p:txBody>
          <a:bodyPr wrap="square">
            <a:spAutoFit/>
          </a:bodyPr>
          <a:lstStyle/>
          <a:p>
            <a:pPr>
              <a:spcAft>
                <a:spcPts val="1000"/>
              </a:spcAft>
              <a:defRPr sz="5400" b="1">
                <a:solidFill>
                  <a:srgbClr val="1F5C3A"/>
                </a:solidFill>
              </a:defRPr>
            </a:pPr>
            <a:r>
              <a:t>Knotweed Checker</a:t>
            </a:r>
          </a:p>
        </p:txBody>
      </p:sp>
      <p:sp>
        <p:nvSpPr>
          <p:cNvPr id="3" name="TextBox 2"/>
          <p:cNvSpPr txBox="1"/>
          <p:nvPr/>
        </p:nvSpPr>
        <p:spPr>
          <a:xfrm>
            <a:off x="731520" y="3200400"/>
            <a:ext cx="10515600" cy="1371600"/>
          </a:xfrm>
          <a:prstGeom prst="rect">
            <a:avLst/>
          </a:prstGeom>
          <a:noFill/>
        </p:spPr>
        <p:txBody>
          <a:bodyPr wrap="square">
            <a:spAutoFit/>
          </a:bodyPr>
          <a:lstStyle/>
          <a:p>
            <a:pPr>
              <a:spcAft>
                <a:spcPts val="1000"/>
              </a:spcAft>
              <a:defRPr sz="2600" b="0">
                <a:solidFill>
                  <a:srgbClr val="222222"/>
                </a:solidFill>
              </a:defRPr>
            </a:pPr>
            <a:r>
              <a:t>Spot invasive Japanese knotweed from a phone photo</a:t>
            </a:r>
          </a:p>
          <a:p>
            <a:pPr>
              <a:spcAft>
                <a:spcPts val="1000"/>
              </a:spcAft>
              <a:defRPr sz="2600" b="0">
                <a:solidFill>
                  <a:srgbClr val="222222"/>
                </a:solidFill>
              </a:defRPr>
            </a:pPr>
            <a:r>
              <a:t>AI for Good, Hackathon 7: Eyes on Earth · Roboflow · SDG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spcAft>
                <a:spcPts val="1000"/>
              </a:spcAft>
              <a:defRPr sz="3600" b="1">
                <a:solidFill>
                  <a:srgbClr val="1F5C3A"/>
                </a:solidFill>
              </a:defRPr>
            </a:pPr>
            <a:r>
              <a:t>The problem</a:t>
            </a:r>
          </a:p>
        </p:txBody>
      </p:sp>
      <p:sp>
        <p:nvSpPr>
          <p:cNvPr id="3" name="TextBox 2"/>
          <p:cNvSpPr txBox="1"/>
          <p:nvPr/>
        </p:nvSpPr>
        <p:spPr>
          <a:xfrm>
            <a:off x="548640" y="1371600"/>
            <a:ext cx="6035040" cy="4754880"/>
          </a:xfrm>
          <a:prstGeom prst="rect">
            <a:avLst/>
          </a:prstGeom>
          <a:noFill/>
        </p:spPr>
        <p:txBody>
          <a:bodyPr wrap="square">
            <a:spAutoFit/>
          </a:bodyPr>
          <a:lstStyle/>
          <a:p>
            <a:pPr>
              <a:spcAft>
                <a:spcPts val="1000"/>
              </a:spcAft>
              <a:defRPr sz="2200" b="0">
                <a:solidFill>
                  <a:srgbClr val="222222"/>
                </a:solidFill>
              </a:defRPr>
            </a:pPr>
            <a:r>
              <a:t>• Japanese knotweed pushes out native plants, can damage river banks and paving, and regrows from tiny root pieces</a:t>
            </a:r>
          </a:p>
          <a:p>
            <a:pPr>
              <a:spcAft>
                <a:spcPts val="1000"/>
              </a:spcAft>
              <a:defRPr sz="2200" b="0">
                <a:solidFill>
                  <a:srgbClr val="222222"/>
                </a:solidFill>
              </a:defRPr>
            </a:pPr>
            <a:r>
              <a:t>• Amsterdam set aside €8.2 million to fight it; Ameland and Heusden ask residents to report where it grows</a:t>
            </a:r>
          </a:p>
          <a:p>
            <a:pPr>
              <a:spcAft>
                <a:spcPts val="1000"/>
              </a:spcAft>
              <a:defRPr sz="2200" b="0">
                <a:solidFill>
                  <a:srgbClr val="222222"/>
                </a:solidFill>
              </a:defRPr>
            </a:pPr>
            <a:r>
              <a:t>• Patches are cheapest to remove when found early</a:t>
            </a:r>
          </a:p>
          <a:p>
            <a:pPr>
              <a:spcAft>
                <a:spcPts val="1000"/>
              </a:spcAft>
              <a:defRPr sz="2200" b="0">
                <a:solidFill>
                  <a:srgbClr val="222222"/>
                </a:solidFill>
              </a:defRPr>
            </a:pPr>
            <a:r>
              <a:t>• But most people cannot tell knotweed from look-alikes such as bindweed</a:t>
            </a:r>
          </a:p>
        </p:txBody>
      </p:sp>
      <p:pic>
        <p:nvPicPr>
          <p:cNvPr id="4" name="Picture 3" descr="test-knotweed.jpg"/>
          <p:cNvPicPr>
            <a:picLocks noChangeAspect="1"/>
          </p:cNvPicPr>
          <p:nvPr/>
        </p:nvPicPr>
        <p:blipFill>
          <a:blip r:embed="rId2"/>
          <a:stretch>
            <a:fillRect/>
          </a:stretch>
        </p:blipFill>
        <p:spPr>
          <a:xfrm>
            <a:off x="6949440" y="1371600"/>
            <a:ext cx="5267739" cy="4846320"/>
          </a:xfrm>
          <a:prstGeom prst="rect">
            <a:avLst/>
          </a:prstGeom>
        </p:spPr>
      </p:pic>
      <p:sp>
        <p:nvSpPr>
          <p:cNvPr id="5" name="TextBox 4"/>
          <p:cNvSpPr txBox="1"/>
          <p:nvPr/>
        </p:nvSpPr>
        <p:spPr>
          <a:xfrm>
            <a:off x="548640" y="6263640"/>
            <a:ext cx="10972800" cy="457200"/>
          </a:xfrm>
          <a:prstGeom prst="rect">
            <a:avLst/>
          </a:prstGeom>
          <a:noFill/>
        </p:spPr>
        <p:txBody>
          <a:bodyPr wrap="square">
            <a:spAutoFit/>
          </a:bodyPr>
          <a:lstStyle/>
          <a:p>
            <a:pPr>
              <a:spcAft>
                <a:spcPts val="1000"/>
              </a:spcAft>
              <a:defRPr sz="1400" b="0">
                <a:solidFill>
                  <a:srgbClr val="666666"/>
                </a:solidFill>
              </a:defRPr>
            </a:pPr>
            <a:r>
              <a:t>Source: gemeente.nu, 2019, 'Strijdplan Japanse duizendknoop samen met inwoners'. SDG 15, target 15.8: invasive alien species.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spcAft>
                <a:spcPts val="1000"/>
              </a:spcAft>
              <a:defRPr sz="3600" b="1">
                <a:solidFill>
                  <a:srgbClr val="1F5C3A"/>
                </a:solidFill>
              </a:defRPr>
            </a:pPr>
            <a:r>
              <a:t>Who it is for (and who not)</a:t>
            </a:r>
          </a:p>
        </p:txBody>
      </p:sp>
      <p:sp>
        <p:nvSpPr>
          <p:cNvPr id="3" name="TextBox 2"/>
          <p:cNvSpPr txBox="1"/>
          <p:nvPr/>
        </p:nvSpPr>
        <p:spPr>
          <a:xfrm>
            <a:off x="548640" y="1371600"/>
            <a:ext cx="10972800" cy="4754880"/>
          </a:xfrm>
          <a:prstGeom prst="rect">
            <a:avLst/>
          </a:prstGeom>
          <a:noFill/>
        </p:spPr>
        <p:txBody>
          <a:bodyPr wrap="square">
            <a:spAutoFit/>
          </a:bodyPr>
          <a:lstStyle/>
          <a:p>
            <a:pPr>
              <a:spcAft>
                <a:spcPts val="1000"/>
              </a:spcAft>
              <a:defRPr sz="2200" b="0">
                <a:solidFill>
                  <a:srgbClr val="222222"/>
                </a:solidFill>
              </a:defRPr>
            </a:pPr>
            <a:r>
              <a:t>• For: residents and park volunteers in the Netherlands who see a suspicious plant and want to know in seconds whether to report it</a:t>
            </a:r>
          </a:p>
          <a:p>
            <a:pPr>
              <a:spcAft>
                <a:spcPts val="1000"/>
              </a:spcAft>
              <a:defRPr sz="2200" b="0">
                <a:solidFill>
                  <a:srgbClr val="222222"/>
                </a:solidFill>
              </a:defRPr>
            </a:pPr>
            <a:r>
              <a:t>• They have a phone, no botany knowledge, and little time</a:t>
            </a:r>
          </a:p>
          <a:p>
            <a:pPr>
              <a:spcAft>
                <a:spcPts val="1000"/>
              </a:spcAft>
              <a:defRPr sz="2200" b="0">
                <a:solidFill>
                  <a:srgbClr val="222222"/>
                </a:solidFill>
              </a:defRPr>
            </a:pPr>
            <a:r>
              <a:t>• Not for: municipal staff or contractors deciding whether to remove a plant; that needs an expert on site</a:t>
            </a:r>
          </a:p>
          <a:p>
            <a:pPr>
              <a:spcAft>
                <a:spcPts val="1000"/>
              </a:spcAft>
              <a:defRPr sz="2200" b="0">
                <a:solidFill>
                  <a:srgbClr val="222222"/>
                </a:solidFill>
              </a:defRPr>
            </a:pPr>
            <a:r>
              <a:t>• Not for: identifying other species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spcAft>
                <a:spcPts val="1000"/>
              </a:spcAft>
              <a:defRPr sz="3600" b="1">
                <a:solidFill>
                  <a:srgbClr val="1F5C3A"/>
                </a:solidFill>
              </a:defRPr>
            </a:pPr>
            <a:r>
              <a:t>How it works</a:t>
            </a:r>
          </a:p>
        </p:txBody>
      </p:sp>
      <p:sp>
        <p:nvSpPr>
          <p:cNvPr id="3" name="TextBox 2"/>
          <p:cNvSpPr txBox="1"/>
          <p:nvPr/>
        </p:nvSpPr>
        <p:spPr>
          <a:xfrm>
            <a:off x="548640" y="1371600"/>
            <a:ext cx="6035040" cy="4754880"/>
          </a:xfrm>
          <a:prstGeom prst="rect">
            <a:avLst/>
          </a:prstGeom>
          <a:noFill/>
        </p:spPr>
        <p:txBody>
          <a:bodyPr wrap="square">
            <a:spAutoFit/>
          </a:bodyPr>
          <a:lstStyle/>
          <a:p>
            <a:pPr>
              <a:spcAft>
                <a:spcPts val="1000"/>
              </a:spcAft>
              <a:defRPr sz="2200" b="0">
                <a:solidFill>
                  <a:srgbClr val="222222"/>
                </a:solidFill>
              </a:defRPr>
            </a:pPr>
            <a:r>
              <a:t>• 1. Take or upload a photo in the app</a:t>
            </a:r>
          </a:p>
          <a:p>
            <a:pPr>
              <a:spcAft>
                <a:spcPts val="1000"/>
              </a:spcAft>
              <a:defRPr sz="2200" b="0">
                <a:solidFill>
                  <a:srgbClr val="222222"/>
                </a:solidFill>
              </a:defRPr>
            </a:pPr>
            <a:r>
              <a:t>• 2. The app sends it to our Roboflow model: the step that decides 'knotweed or not'</a:t>
            </a:r>
          </a:p>
          <a:p>
            <a:pPr>
              <a:spcAft>
                <a:spcPts val="1000"/>
              </a:spcAft>
              <a:defRPr sz="2200" b="0">
                <a:solidFill>
                  <a:srgbClr val="222222"/>
                </a:solidFill>
              </a:defRPr>
            </a:pPr>
            <a:r>
              <a:t>• 3. 70%+ → 'Likely knotweed: don't cut it, report it on waarneming.nl'</a:t>
            </a:r>
          </a:p>
          <a:p>
            <a:pPr>
              <a:spcAft>
                <a:spcPts val="1000"/>
              </a:spcAft>
              <a:defRPr sz="2200" b="0">
                <a:solidFill>
                  <a:srgbClr val="222222"/>
                </a:solidFill>
              </a:defRPr>
            </a:pPr>
            <a:r>
              <a:t>•    below 70% → 'Maybe: take a closer photo' · otherwise 'Probably not'</a:t>
            </a:r>
          </a:p>
          <a:p>
            <a:pPr>
              <a:spcAft>
                <a:spcPts val="1000"/>
              </a:spcAft>
              <a:defRPr sz="2200" b="0">
                <a:solidFill>
                  <a:srgbClr val="222222"/>
                </a:solidFill>
              </a:defRPr>
            </a:pPr>
            <a:r>
              <a:t>• Why not a general AI model? We tested one (CLIP): same knotweed found, but 4x more false alarms</a:t>
            </a:r>
          </a:p>
        </p:txBody>
      </p:sp>
      <p:pic>
        <p:nvPicPr>
          <p:cNvPr id="4" name="Picture 3" descr="app-screenshot.jpg"/>
          <p:cNvPicPr>
            <a:picLocks noChangeAspect="1"/>
          </p:cNvPicPr>
          <p:nvPr/>
        </p:nvPicPr>
        <p:blipFill>
          <a:blip r:embed="rId2"/>
          <a:stretch>
            <a:fillRect/>
          </a:stretch>
        </p:blipFill>
        <p:spPr>
          <a:xfrm>
            <a:off x="6949440" y="1371600"/>
            <a:ext cx="4753002" cy="48463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spcAft>
                <a:spcPts val="1000"/>
              </a:spcAft>
              <a:defRPr sz="3600" b="1">
                <a:solidFill>
                  <a:srgbClr val="1F5C3A"/>
                </a:solidFill>
              </a:defRPr>
            </a:pPr>
            <a:r>
              <a:t>Data and model</a:t>
            </a:r>
          </a:p>
        </p:txBody>
      </p:sp>
      <p:sp>
        <p:nvSpPr>
          <p:cNvPr id="3" name="TextBox 2"/>
          <p:cNvSpPr txBox="1"/>
          <p:nvPr/>
        </p:nvSpPr>
        <p:spPr>
          <a:xfrm>
            <a:off x="548640" y="1371600"/>
            <a:ext cx="10972800" cy="4754880"/>
          </a:xfrm>
          <a:prstGeom prst="rect">
            <a:avLst/>
          </a:prstGeom>
          <a:noFill/>
        </p:spPr>
        <p:txBody>
          <a:bodyPr wrap="square">
            <a:spAutoFit/>
          </a:bodyPr>
          <a:lstStyle/>
          <a:p>
            <a:pPr>
              <a:spcAft>
                <a:spcPts val="1000"/>
              </a:spcAft>
              <a:defRPr sz="2200" b="0">
                <a:solidFill>
                  <a:srgbClr val="222222"/>
                </a:solidFill>
              </a:defRPr>
            </a:pPr>
            <a:r>
              <a:t>• 832 Dutch iNaturalist photos, community-confirmed species, Creative Commons licences (credits in sources.csv)</a:t>
            </a:r>
          </a:p>
          <a:p>
            <a:pPr>
              <a:spcAft>
                <a:spcPts val="1000"/>
              </a:spcAft>
              <a:defRPr sz="2200" b="0">
                <a:solidFill>
                  <a:srgbClr val="222222"/>
                </a:solidFill>
              </a:defRPr>
            </a:pPr>
            <a:r>
              <a:t>• 302 knotweed · 530 look-alikes: bindweed, Persicaria, Bistorta, Fallopia, bramble, nettle, ivy</a:t>
            </a:r>
          </a:p>
          <a:p>
            <a:pPr>
              <a:spcAft>
                <a:spcPts val="1000"/>
              </a:spcAft>
              <a:defRPr sz="2200" b="0">
                <a:solidFill>
                  <a:srgbClr val="222222"/>
                </a:solidFill>
              </a:defRPr>
            </a:pPr>
            <a:r>
              <a:t>• Bug we caught: iNaturalist's search mixed knotweed and bindweed, so ~70 photos had the wrong label</a:t>
            </a:r>
          </a:p>
          <a:p>
            <a:pPr>
              <a:spcAft>
                <a:spcPts val="1000"/>
              </a:spcAft>
              <a:defRPr sz="2200" b="0">
                <a:solidFill>
                  <a:srgbClr val="222222"/>
                </a:solidFill>
              </a:defRPr>
            </a:pPr>
            <a:r>
              <a:t>• Split by plant, not by photo (587 / 172 / 73), so the test never shows a plant the model already saw</a:t>
            </a:r>
          </a:p>
          <a:p>
            <a:pPr>
              <a:spcAft>
                <a:spcPts val="1000"/>
              </a:spcAft>
              <a:defRPr sz="2200" b="0">
                <a:solidFill>
                  <a:srgbClr val="222222"/>
                </a:solidFill>
              </a:defRPr>
            </a:pPr>
            <a:r>
              <a:t>• Roboflow classification, ViT model, training photos doubled with flips, rotations and brightness changes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spcAft>
                <a:spcPts val="1000"/>
              </a:spcAft>
              <a:defRPr sz="3600" b="1">
                <a:solidFill>
                  <a:srgbClr val="1F5C3A"/>
                </a:solidFill>
              </a:defRPr>
            </a:pPr>
            <a:r>
              <a:t>Results on photos it never saw</a:t>
            </a:r>
          </a:p>
        </p:txBody>
      </p:sp>
      <p:sp>
        <p:nvSpPr>
          <p:cNvPr id="3" name="TextBox 2"/>
          <p:cNvSpPr txBox="1"/>
          <p:nvPr/>
        </p:nvSpPr>
        <p:spPr>
          <a:xfrm>
            <a:off x="548640" y="1371600"/>
            <a:ext cx="10972800" cy="4754880"/>
          </a:xfrm>
          <a:prstGeom prst="rect">
            <a:avLst/>
          </a:prstGeom>
          <a:noFill/>
        </p:spPr>
        <p:txBody>
          <a:bodyPr wrap="square">
            <a:spAutoFit/>
          </a:bodyPr>
          <a:lstStyle/>
          <a:p>
            <a:pPr>
              <a:spcAft>
                <a:spcPts val="1000"/>
              </a:spcAft>
              <a:defRPr sz="2200" b="0">
                <a:solidFill>
                  <a:srgbClr val="222222"/>
                </a:solidFill>
              </a:defRPr>
            </a:pPr>
            <a:r>
              <a:t>• 73 Dutch test photos: 95% right · 24 of 26 knotweed found · 2 of 47 false alarms</a:t>
            </a:r>
          </a:p>
          <a:p>
            <a:pPr>
              <a:spcAft>
                <a:spcPts val="1000"/>
              </a:spcAft>
              <a:defRPr sz="2200" b="0">
                <a:solidFill>
                  <a:srgbClr val="222222"/>
                </a:solidFill>
              </a:defRPr>
            </a:pPr>
            <a:r>
              <a:t>• 168 new photos from Belgium and Germany, all seasons: 93% right · 77 of 83 found · 5 of 85 false alarms</a:t>
            </a:r>
          </a:p>
          <a:p>
            <a:pPr>
              <a:spcAft>
                <a:spcPts val="1000"/>
              </a:spcAft>
              <a:defRPr sz="2200" b="0">
                <a:solidFill>
                  <a:srgbClr val="222222"/>
                </a:solidFill>
              </a:defRPr>
            </a:pPr>
            <a:r>
              <a:t>• Spring 93% · summer 93% · autumn/winter 95%: spring shoots are only slightly harder</a:t>
            </a:r>
          </a:p>
          <a:p>
            <a:pPr>
              <a:spcAft>
                <a:spcPts val="1000"/>
              </a:spcAft>
              <a:defRPr sz="2200" b="0">
                <a:solidFill>
                  <a:srgbClr val="222222"/>
                </a:solidFill>
              </a:defRPr>
            </a:pPr>
            <a:r>
              <a:t>• General AI model (CLIP), same 168 photos: 84% · 77 of 83 found · 21 of 85 false alarms</a:t>
            </a:r>
          </a:p>
          <a:p>
            <a:pPr>
              <a:spcAft>
                <a:spcPts val="1000"/>
              </a:spcAft>
              <a:defRPr sz="2200" b="0">
                <a:solidFill>
                  <a:srgbClr val="222222"/>
                </a:solidFill>
              </a:defRPr>
            </a:pPr>
            <a:r>
              <a:t>• Our model: 4x fewer false alarms than the general model, which could mean fewer unnecessary checks</a:t>
            </a:r>
          </a:p>
          <a:p>
            <a:pPr>
              <a:spcAft>
                <a:spcPts val="1000"/>
              </a:spcAft>
              <a:defRPr sz="2200" b="0">
                <a:solidFill>
                  <a:srgbClr val="222222"/>
                </a:solidFill>
              </a:defRPr>
            </a:pPr>
            <a:r>
              <a:t>• Worst mistake: a bindweed called knotweed with 98% confidence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spcAft>
                <a:spcPts val="1000"/>
              </a:spcAft>
              <a:defRPr sz="3600" b="1">
                <a:solidFill>
                  <a:srgbClr val="1F5C3A"/>
                </a:solidFill>
              </a:defRPr>
            </a:pPr>
            <a:r>
              <a:t>Ethics: what could go wrong, and what we did</a:t>
            </a:r>
          </a:p>
        </p:txBody>
      </p:sp>
      <p:sp>
        <p:nvSpPr>
          <p:cNvPr id="3" name="TextBox 2"/>
          <p:cNvSpPr txBox="1"/>
          <p:nvPr/>
        </p:nvSpPr>
        <p:spPr>
          <a:xfrm>
            <a:off x="548640" y="1371600"/>
            <a:ext cx="10972800" cy="4754880"/>
          </a:xfrm>
          <a:prstGeom prst="rect">
            <a:avLst/>
          </a:prstGeom>
          <a:noFill/>
        </p:spPr>
        <p:txBody>
          <a:bodyPr wrap="square">
            <a:spAutoFit/>
          </a:bodyPr>
          <a:lstStyle/>
          <a:p>
            <a:pPr>
              <a:spcAft>
                <a:spcPts val="1000"/>
              </a:spcAft>
              <a:defRPr sz="2200" b="0">
                <a:solidFill>
                  <a:srgbClr val="222222"/>
                </a:solidFill>
              </a:defRPr>
            </a:pPr>
            <a:r>
              <a:t>• Missed knotweed → patch keeps spreading (the expensive mistake)</a:t>
            </a:r>
          </a:p>
          <a:p>
            <a:pPr>
              <a:spcAft>
                <a:spcPts val="1000"/>
              </a:spcAft>
              <a:defRPr sz="2200" b="0">
                <a:solidFill>
                  <a:srgbClr val="222222"/>
                </a:solidFill>
              </a:defRPr>
            </a:pPr>
            <a:r>
              <a:t>• False alarm → someone cuts or poisons a harmless plant; cutting real knotweed spreads it</a:t>
            </a:r>
          </a:p>
          <a:p>
            <a:pPr>
              <a:spcAft>
                <a:spcPts val="1000"/>
              </a:spcAft>
              <a:defRPr sz="2200" b="0">
                <a:solidFill>
                  <a:srgbClr val="222222"/>
                </a:solidFill>
              </a:defRPr>
            </a:pPr>
            <a:r>
              <a:t>• What we did: 70% threshold with a 'maybe' zone; the app never tells you to remove anything, only to report it; tested on a second, independent set</a:t>
            </a:r>
          </a:p>
          <a:p>
            <a:pPr>
              <a:spcAft>
                <a:spcPts val="1000"/>
              </a:spcAft>
              <a:defRPr sz="2200" b="0">
                <a:solidFill>
                  <a:srgbClr val="222222"/>
                </a:solidFill>
              </a:defRPr>
            </a:pPr>
            <a:r>
              <a:t>• Every answer warns it can be wrong; we report missed knotweed, not just accuracy</a:t>
            </a:r>
          </a:p>
          <a:p>
            <a:pPr>
              <a:spcAft>
                <a:spcPts val="1000"/>
              </a:spcAft>
              <a:defRPr sz="2200" b="0">
                <a:solidFill>
                  <a:srgbClr val="222222"/>
                </a:solidFill>
              </a:defRPr>
            </a:pPr>
            <a:r>
              <a:t>• Photos go to Roboflow's servers, so don't photograph people or house numbers</a:t>
            </a:r>
          </a:p>
          <a:p>
            <a:pPr>
              <a:spcAft>
                <a:spcPts val="1000"/>
              </a:spcAft>
              <a:defRPr sz="2200" b="0">
                <a:solidFill>
                  <a:srgbClr val="222222"/>
                </a:solidFill>
              </a:defRPr>
            </a:pPr>
            <a:r>
              <a:t>• Next: test on our own street photos; add winter images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spcAft>
                <a:spcPts val="1000"/>
              </a:spcAft>
              <a:defRPr sz="3600" b="1">
                <a:solidFill>
                  <a:srgbClr val="1F5C3A"/>
                </a:solidFill>
              </a:defRPr>
            </a:pPr>
            <a:r>
              <a:t>Live demo and what we learned</a:t>
            </a:r>
          </a:p>
        </p:txBody>
      </p:sp>
      <p:sp>
        <p:nvSpPr>
          <p:cNvPr id="3" name="TextBox 2"/>
          <p:cNvSpPr txBox="1"/>
          <p:nvPr/>
        </p:nvSpPr>
        <p:spPr>
          <a:xfrm>
            <a:off x="548640" y="1371600"/>
            <a:ext cx="10972800" cy="4754880"/>
          </a:xfrm>
          <a:prstGeom prst="rect">
            <a:avLst/>
          </a:prstGeom>
          <a:noFill/>
        </p:spPr>
        <p:txBody>
          <a:bodyPr wrap="square">
            <a:spAutoFit/>
          </a:bodyPr>
          <a:lstStyle/>
          <a:p>
            <a:pPr>
              <a:spcAft>
                <a:spcPts val="1000"/>
              </a:spcAft>
              <a:defRPr sz="2200" b="0">
                <a:solidFill>
                  <a:srgbClr val="222222"/>
                </a:solidFill>
              </a:defRPr>
            </a:pPr>
            <a:r>
              <a:t>• Demo: upload a photo → answer in a few seconds</a:t>
            </a:r>
          </a:p>
          <a:p>
            <a:pPr>
              <a:spcAft>
                <a:spcPts val="1000"/>
              </a:spcAft>
              <a:defRPr sz="2200" b="0">
                <a:solidFill>
                  <a:srgbClr val="222222"/>
                </a:solidFill>
              </a:defRPr>
            </a:pPr>
            <a:r>
              <a:t>• Learned: the labels you scrape can be wrong; check them before training</a:t>
            </a:r>
          </a:p>
          <a:p>
            <a:pPr>
              <a:spcAft>
                <a:spcPts val="1000"/>
              </a:spcAft>
              <a:defRPr sz="2200" b="0">
                <a:solidFill>
                  <a:srgbClr val="222222"/>
                </a:solidFill>
              </a:defRPr>
            </a:pPr>
            <a:r>
              <a:t>• Learned: a high score can hide the mistakes that matter; count the misses and false alarms</a:t>
            </a:r>
          </a:p>
          <a:p>
            <a:pPr>
              <a:spcAft>
                <a:spcPts val="1000"/>
              </a:spcAft>
              <a:defRPr sz="2200" b="0">
                <a:solidFill>
                  <a:srgbClr val="222222"/>
                </a:solidFill>
              </a:defRPr>
            </a:pPr>
            <a:r>
              <a:t>• What surprised us: We expected the model to fail on young spring shoots, but when we tested it on 168 new photos from Belgium and Germany it found 27 of 30 spring plants. The real problem was somewhere else: iNaturalist's search had mixed up knotweed and bindweed, so about 70 of our photos had the wrong label before we caught it. Testing taught us more than guessing.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